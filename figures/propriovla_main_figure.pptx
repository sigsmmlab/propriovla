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18872"/>
            <a:ext cx="11338560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2400" b="1">
                <a:solidFill>
                  <a:srgbClr val="2F5D9E"/>
                </a:solidFill>
                <a:latin typeface="Arial"/>
              </a:rPr>
              <a:t>ProprioVLA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57200"/>
            <a:ext cx="1133856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1019" b="0">
                <a:solidFill>
                  <a:srgbClr val="647084"/>
                </a:solidFill>
                <a:latin typeface="Arial"/>
              </a:rPr>
              <a:t>Adapter attention enhances the intermediate VLM embedding before the action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77824"/>
            <a:ext cx="7589520" cy="54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74736" y="877824"/>
            <a:ext cx="3621024" cy="54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786384"/>
            <a:ext cx="2523744" cy="310896"/>
          </a:xfrm>
          <a:prstGeom prst="roundRect">
            <a:avLst/>
          </a:prstGeom>
          <a:solidFill>
            <a:srgbClr val="EDF5FF"/>
          </a:solidFill>
          <a:ln w="14604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1200" b="1">
                <a:solidFill>
                  <a:srgbClr val="2F5D9E"/>
                </a:solidFill>
                <a:latin typeface="Arial"/>
              </a:rPr>
              <a:t>Unified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75904" y="786384"/>
            <a:ext cx="2340864" cy="310896"/>
          </a:xfrm>
          <a:prstGeom prst="roundRect">
            <a:avLst/>
          </a:prstGeom>
          <a:solidFill>
            <a:srgbClr val="F7F9FC"/>
          </a:solidFill>
          <a:ln w="14604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1130" b="1">
                <a:solidFill>
                  <a:srgbClr val="172033"/>
                </a:solidFill>
                <a:latin typeface="Arial"/>
              </a:rPr>
              <a:t>Training-only Supervisors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5008" y="896112"/>
            <a:ext cx="0" cy="5449824"/>
          </a:xfrm>
          <a:prstGeom prst="line">
            <a:avLst/>
          </a:prstGeom>
          <a:ln w="1270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propriovla_robot_observati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2249424" cy="1353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2724912"/>
            <a:ext cx="1993392" cy="146304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800" b="0">
                <a:solidFill>
                  <a:srgbClr val="647084"/>
                </a:solidFill>
                <a:latin typeface="Arial"/>
              </a:rPr>
              <a:t>observation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127248"/>
            <a:ext cx="2011680" cy="429768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5" y="3273552"/>
            <a:ext cx="100584" cy="10058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19" y="3273552"/>
            <a:ext cx="100584" cy="10058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35024" y="3273552"/>
            <a:ext cx="100584" cy="10058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81328" y="3273552"/>
            <a:ext cx="100584" cy="10058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27631" y="3273552"/>
            <a:ext cx="100584" cy="10058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73936" y="3273552"/>
            <a:ext cx="100584" cy="100584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246120"/>
            <a:ext cx="676656" cy="146304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740" b="1">
                <a:solidFill>
                  <a:srgbClr val="2F5D9E"/>
                </a:solidFill>
                <a:latin typeface="Arial"/>
              </a:rPr>
              <a:t>instruction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151376"/>
            <a:ext cx="2011680" cy="429768"/>
          </a:xfrm>
          <a:prstGeom prst="roundRect">
            <a:avLst/>
          </a:prstGeom>
          <a:solidFill>
            <a:srgbClr val="EFF8EB"/>
          </a:solidFill>
          <a:ln w="1270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61872" y="4297680"/>
            <a:ext cx="100584" cy="10058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08175" y="4297680"/>
            <a:ext cx="100584" cy="10058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54480" y="4297680"/>
            <a:ext cx="100584" cy="10058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00784" y="4297680"/>
            <a:ext cx="100584" cy="10058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3664" y="4270248"/>
            <a:ext cx="676656" cy="146304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740" b="1">
                <a:solidFill>
                  <a:srgbClr val="4E7B37"/>
                </a:solidFill>
                <a:latin typeface="Arial"/>
              </a:rPr>
              <a:t>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6704" y="1335024"/>
            <a:ext cx="1481328" cy="786384"/>
          </a:xfrm>
          <a:prstGeom prst="roundRect">
            <a:avLst/>
          </a:prstGeom>
          <a:solidFill>
            <a:srgbClr val="EDF5FF"/>
          </a:solidFill>
          <a:ln w="18415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1472184"/>
            <a:ext cx="9601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1600" b="1">
                <a:solidFill>
                  <a:srgbClr val="2F5D9E"/>
                </a:solidFill>
                <a:latin typeface="Arial"/>
              </a:rPr>
              <a:t>VLM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75887" y="1810512"/>
            <a:ext cx="96012" cy="96012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11219" y="1810512"/>
            <a:ext cx="96012" cy="96012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46550" y="1810512"/>
            <a:ext cx="96012" cy="96012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81881" y="1810512"/>
            <a:ext cx="96012" cy="96012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17212" y="1810512"/>
            <a:ext cx="96012" cy="96012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48656" y="1243584"/>
            <a:ext cx="1225296" cy="5303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31536" y="1389888"/>
            <a:ext cx="82296" cy="82296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47664" y="1389888"/>
            <a:ext cx="82296" cy="82296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63793" y="1389888"/>
            <a:ext cx="82296" cy="82296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79922" y="1389888"/>
            <a:ext cx="82296" cy="82296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96051" y="1389888"/>
            <a:ext cx="82296" cy="82296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58384" y="1645920"/>
            <a:ext cx="1005840" cy="10972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70" b="1">
                <a:solidFill>
                  <a:srgbClr val="2F5D9E"/>
                </a:solidFill>
                <a:latin typeface="Arial"/>
              </a:rPr>
              <a:t>VLM embedding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0368" y="2249424"/>
            <a:ext cx="1298448" cy="585216"/>
          </a:xfrm>
          <a:prstGeom prst="roundRect">
            <a:avLst/>
          </a:prstGeom>
          <a:solidFill>
            <a:srgbClr val="F4F0FF"/>
          </a:solidFill>
          <a:ln w="1524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31536" y="2414016"/>
            <a:ext cx="82296" cy="82296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547664" y="2414016"/>
            <a:ext cx="82296" cy="82296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63793" y="2414016"/>
            <a:ext cx="82296" cy="82296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779922" y="2414016"/>
            <a:ext cx="82296" cy="82296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96051" y="2414016"/>
            <a:ext cx="82296" cy="82296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5232" y="2688336"/>
            <a:ext cx="1188720" cy="10972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20" b="1">
                <a:solidFill>
                  <a:srgbClr val="6650C7"/>
                </a:solidFill>
                <a:latin typeface="Arial"/>
              </a:rPr>
              <a:t>enhanced VLM embedding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76288" y="2176272"/>
            <a:ext cx="768096" cy="749808"/>
          </a:xfrm>
          <a:prstGeom prst="roundRect">
            <a:avLst/>
          </a:prstGeom>
          <a:solidFill>
            <a:srgbClr val="FDE9D8"/>
          </a:solidFill>
          <a:ln w="17145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1000" b="1">
                <a:solidFill>
                  <a:srgbClr val="A55220"/>
                </a:solidFill>
                <a:latin typeface="Arial"/>
              </a:rPr>
              <a:t>Action</a:t>
            </a:r>
            <a:br/>
            <a:r>
              <a:rPr sz="1000" b="1">
                <a:solidFill>
                  <a:srgbClr val="A55220"/>
                </a:solidFill>
                <a:latin typeface="Arial"/>
              </a:rPr>
              <a:t>Head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3200400"/>
            <a:ext cx="1152144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903720" y="3310128"/>
            <a:ext cx="77724" cy="77724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17105" y="3310128"/>
            <a:ext cx="77724" cy="77724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30491" y="3310128"/>
            <a:ext cx="77724" cy="77724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43876" y="3310128"/>
            <a:ext cx="77724" cy="77724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57262" y="3310128"/>
            <a:ext cx="77724" cy="77724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0568" y="3575304"/>
            <a:ext cx="841248" cy="10972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70" b="0">
                <a:solidFill>
                  <a:srgbClr val="647084"/>
                </a:solidFill>
                <a:latin typeface="Arial"/>
              </a:rPr>
              <a:t>action chunk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73552" y="3310128"/>
            <a:ext cx="3182112" cy="1481328"/>
          </a:xfrm>
          <a:prstGeom prst="roundRect">
            <a:avLst/>
          </a:prstGeom>
          <a:solidFill>
            <a:srgbClr val="F4F0FF"/>
          </a:solidFill>
          <a:ln w="1905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6432" y="3456432"/>
            <a:ext cx="2761488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1320" b="1">
                <a:solidFill>
                  <a:srgbClr val="6650C7"/>
                </a:solidFill>
                <a:latin typeface="Arial"/>
              </a:rPr>
              <a:t>ProprioVLA Adapter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93008" y="3767328"/>
            <a:ext cx="676656" cy="603504"/>
          </a:xfrm>
          <a:prstGeom prst="roundRect">
            <a:avLst/>
          </a:prstGeom>
          <a:solidFill>
            <a:srgbClr val="EFF8EB"/>
          </a:solidFill>
          <a:ln w="1270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648456" y="3904487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757269" y="3904487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866083" y="3904487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48456" y="4114800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757269" y="4114800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866083" y="4114800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66160" y="4407408"/>
            <a:ext cx="530352" cy="10972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30" b="1">
                <a:solidFill>
                  <a:srgbClr val="4E7B37"/>
                </a:solidFill>
                <a:latin typeface="Arial"/>
              </a:rPr>
              <a:t>query tokens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98848" y="3767328"/>
            <a:ext cx="694944" cy="603504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608576" y="3895344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703673" y="3895344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798771" y="3895344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893868" y="3895344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608576" y="4096512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703673" y="4096512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98771" y="4096512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893868" y="4096512"/>
            <a:ext cx="68580" cy="6858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62856" y="4407408"/>
            <a:ext cx="566928" cy="10972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590" b="1">
                <a:solidFill>
                  <a:srgbClr val="2F5D9E"/>
                </a:solidFill>
                <a:latin typeface="Arial"/>
              </a:rPr>
              <a:t>value embeddings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13832" y="3721608"/>
            <a:ext cx="585216" cy="640080"/>
          </a:xfrm>
          <a:prstGeom prst="roundRect">
            <a:avLst/>
          </a:prstGeom>
          <a:solidFill>
            <a:srgbClr val="FDE9D8"/>
          </a:solidFill>
          <a:ln w="1270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641848" y="3849624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732373" y="3849624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822899" y="3849624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641848" y="3940149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732373" y="3940149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822899" y="3940149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641848" y="4030675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732373" y="4030675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822899" y="4030675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96128" y="4389120"/>
            <a:ext cx="420624" cy="109728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20" b="1">
                <a:solidFill>
                  <a:srgbClr val="A55220"/>
                </a:solidFill>
                <a:latin typeface="Arial"/>
              </a:rPr>
              <a:t>attention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15968" y="4590288"/>
            <a:ext cx="1042415" cy="164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553712" y="4631436"/>
            <a:ext cx="54864" cy="5486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631436" y="4631436"/>
            <a:ext cx="54864" cy="5486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709160" y="4631436"/>
            <a:ext cx="54864" cy="5486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786884" y="4631436"/>
            <a:ext cx="54864" cy="5486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31536" y="4617720"/>
            <a:ext cx="713232" cy="100584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l"/>
            <a:r>
              <a:rPr sz="570" b="1">
                <a:solidFill>
                  <a:srgbClr val="6650C7"/>
                </a:solidFill>
                <a:latin typeface="Arial"/>
              </a:rPr>
              <a:t>enhancement tokens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962656" y="1956816"/>
            <a:ext cx="384048" cy="0"/>
          </a:xfrm>
          <a:prstGeom prst="line">
            <a:avLst/>
          </a:prstGeom>
          <a:ln w="1714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/>
          <p:cNvSpPr/>
          <p:nvPr/>
        </p:nvSpPr>
        <p:spPr>
          <a:xfrm rot="5400000">
            <a:off x="3280410" y="1890522"/>
            <a:ext cx="132588" cy="132588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816352" y="3342132"/>
            <a:ext cx="256032" cy="0"/>
          </a:xfrm>
          <a:prstGeom prst="line">
            <a:avLst/>
          </a:prstGeom>
          <a:ln w="13335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72384" y="1828800"/>
            <a:ext cx="0" cy="1513332"/>
          </a:xfrm>
          <a:prstGeom prst="line">
            <a:avLst/>
          </a:prstGeom>
          <a:ln w="13335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72384" y="1828800"/>
            <a:ext cx="274320" cy="0"/>
          </a:xfrm>
          <a:prstGeom prst="line">
            <a:avLst/>
          </a:prstGeom>
          <a:ln w="13335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/>
          <p:cNvSpPr/>
          <p:nvPr/>
        </p:nvSpPr>
        <p:spPr>
          <a:xfrm rot="5400000">
            <a:off x="3280410" y="1762506"/>
            <a:ext cx="132588" cy="132588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4828032" y="1728216"/>
            <a:ext cx="420624" cy="0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5400000">
            <a:off x="5182362" y="1661922"/>
            <a:ext cx="132588" cy="132588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861304" y="1773936"/>
            <a:ext cx="0" cy="475488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10800000">
            <a:off x="5795010" y="2183130"/>
            <a:ext cx="132588" cy="132588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6528816" y="2542032"/>
            <a:ext cx="347472" cy="0"/>
          </a:xfrm>
          <a:prstGeom prst="line">
            <a:avLst/>
          </a:prstGeom>
          <a:ln w="17145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Isosceles Triangle 102"/>
          <p:cNvSpPr/>
          <p:nvPr/>
        </p:nvSpPr>
        <p:spPr>
          <a:xfrm rot="5400000">
            <a:off x="6809994" y="2475738"/>
            <a:ext cx="132588" cy="132588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7260336" y="2926080"/>
            <a:ext cx="0" cy="274320"/>
          </a:xfrm>
          <a:prstGeom prst="line">
            <a:avLst/>
          </a:prstGeom>
          <a:ln w="15240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Isosceles Triangle 104"/>
          <p:cNvSpPr/>
          <p:nvPr/>
        </p:nvSpPr>
        <p:spPr>
          <a:xfrm rot="10800000">
            <a:off x="7194042" y="3134106"/>
            <a:ext cx="132588" cy="132588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2816352" y="4366260"/>
            <a:ext cx="457200" cy="0"/>
          </a:xfrm>
          <a:prstGeom prst="line">
            <a:avLst/>
          </a:prstGeom>
          <a:ln w="15875">
            <a:solidFill>
              <a:srgbClr val="4E7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5400000">
            <a:off x="3207258" y="4299966"/>
            <a:ext cx="132588" cy="132588"/>
          </a:xfrm>
          <a:prstGeom prst="triangle">
            <a:avLst/>
          </a:prstGeom>
          <a:solidFill>
            <a:srgbClr val="4E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3273552" y="4059936"/>
            <a:ext cx="0" cy="306324"/>
          </a:xfrm>
          <a:prstGeom prst="line">
            <a:avLst/>
          </a:prstGeom>
          <a:ln w="15875">
            <a:solidFill>
              <a:srgbClr val="4E7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273552" y="4059936"/>
            <a:ext cx="219456" cy="0"/>
          </a:xfrm>
          <a:prstGeom prst="line">
            <a:avLst/>
          </a:prstGeom>
          <a:ln w="15875">
            <a:solidFill>
              <a:srgbClr val="4E7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5400000">
            <a:off x="3426714" y="3993642"/>
            <a:ext cx="132588" cy="132588"/>
          </a:xfrm>
          <a:prstGeom prst="triangle">
            <a:avLst/>
          </a:prstGeom>
          <a:solidFill>
            <a:srgbClr val="4E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4169663" y="4059936"/>
            <a:ext cx="329185" cy="0"/>
          </a:xfrm>
          <a:prstGeom prst="line">
            <a:avLst/>
          </a:prstGeom>
          <a:ln w="12700">
            <a:solidFill>
              <a:srgbClr val="4E7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Isosceles Triangle 115"/>
          <p:cNvSpPr/>
          <p:nvPr/>
        </p:nvSpPr>
        <p:spPr>
          <a:xfrm rot="5400000">
            <a:off x="4432554" y="3993642"/>
            <a:ext cx="132588" cy="132588"/>
          </a:xfrm>
          <a:prstGeom prst="triangle">
            <a:avLst/>
          </a:prstGeom>
          <a:solidFill>
            <a:srgbClr val="4E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5193792" y="4059936"/>
            <a:ext cx="320040" cy="0"/>
          </a:xfrm>
          <a:prstGeom prst="line">
            <a:avLst/>
          </a:prstGeom>
          <a:ln w="1270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5400000">
            <a:off x="5447538" y="3993642"/>
            <a:ext cx="132588" cy="132588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5806440" y="4361688"/>
            <a:ext cx="0" cy="310896"/>
          </a:xfrm>
          <a:prstGeom prst="line">
            <a:avLst/>
          </a:prstGeom>
          <a:ln w="12700">
            <a:solidFill>
              <a:srgbClr val="A55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5358384" y="4672584"/>
            <a:ext cx="448056" cy="0"/>
          </a:xfrm>
          <a:prstGeom prst="line">
            <a:avLst/>
          </a:prstGeom>
          <a:ln w="1270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Isosceles Triangle 120"/>
          <p:cNvSpPr/>
          <p:nvPr/>
        </p:nvSpPr>
        <p:spPr>
          <a:xfrm rot="16200000">
            <a:off x="5292090" y="4606290"/>
            <a:ext cx="132588" cy="132588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V="1">
            <a:off x="4846320" y="2834640"/>
            <a:ext cx="0" cy="1755648"/>
          </a:xfrm>
          <a:prstGeom prst="line">
            <a:avLst/>
          </a:prstGeom>
          <a:ln w="1524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846320" y="2834640"/>
            <a:ext cx="384048" cy="0"/>
          </a:xfrm>
          <a:prstGeom prst="line">
            <a:avLst/>
          </a:prstGeom>
          <a:ln w="1524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5164074" y="2768346"/>
            <a:ext cx="132588" cy="132588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8449056" y="1335024"/>
            <a:ext cx="3072384" cy="2029968"/>
          </a:xfrm>
          <a:prstGeom prst="roundRect">
            <a:avLst/>
          </a:prstGeom>
          <a:solidFill>
            <a:srgbClr val="F4F0FF"/>
          </a:solidFill>
          <a:ln w="18415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8686800" y="1527048"/>
            <a:ext cx="259689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1019" b="1">
                <a:solidFill>
                  <a:srgbClr val="6650C7"/>
                </a:solidFill>
                <a:latin typeface="Arial"/>
              </a:rPr>
              <a:t>StateReconstructionOnly 500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31936" y="1956816"/>
            <a:ext cx="2688336" cy="146304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rial"/>
              </a:rPr>
              <a:t>adapter enhancement tokens -&gt; state decoder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686800" y="2359152"/>
            <a:ext cx="566928" cy="365760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778240" y="2487168"/>
            <a:ext cx="77724" cy="7772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887053" y="2487168"/>
            <a:ext cx="77724" cy="7772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995867" y="2487168"/>
            <a:ext cx="77724" cy="77724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9253728" y="2542032"/>
            <a:ext cx="457200" cy="0"/>
          </a:xfrm>
          <a:prstGeom prst="line">
            <a:avLst/>
          </a:prstGeom>
          <a:ln w="14604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Isosceles Triangle 132"/>
          <p:cNvSpPr/>
          <p:nvPr/>
        </p:nvSpPr>
        <p:spPr>
          <a:xfrm rot="5400000">
            <a:off x="9644634" y="2475738"/>
            <a:ext cx="132588" cy="132588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9710928" y="2249424"/>
            <a:ext cx="71323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819" b="1">
                <a:solidFill>
                  <a:srgbClr val="6650C7"/>
                </a:solidFill>
                <a:latin typeface="Arial"/>
              </a:rPr>
              <a:t>State</a:t>
            </a:r>
            <a:br/>
            <a:r>
              <a:rPr sz="819" b="1">
                <a:solidFill>
                  <a:srgbClr val="6650C7"/>
                </a:solidFill>
                <a:latin typeface="Arial"/>
              </a:rPr>
              <a:t>Decoder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0424160" y="2542032"/>
            <a:ext cx="438912" cy="0"/>
          </a:xfrm>
          <a:prstGeom prst="line">
            <a:avLst/>
          </a:prstGeom>
          <a:ln w="14604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Isosceles Triangle 135"/>
          <p:cNvSpPr/>
          <p:nvPr/>
        </p:nvSpPr>
        <p:spPr>
          <a:xfrm rot="5400000">
            <a:off x="10796778" y="2475738"/>
            <a:ext cx="132588" cy="132588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863072" y="2359152"/>
            <a:ext cx="402336" cy="365760"/>
          </a:xfrm>
          <a:prstGeom prst="roundRect">
            <a:avLst/>
          </a:prstGeom>
          <a:solidFill>
            <a:srgbClr val="EFF8EB"/>
          </a:solidFill>
          <a:ln w="1270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927080" y="2487168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035893" y="2487168"/>
            <a:ext cx="77724" cy="77724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9573768" y="2971800"/>
            <a:ext cx="10058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780" b="1">
                <a:solidFill>
                  <a:srgbClr val="6650C7"/>
                </a:solidFill>
                <a:latin typeface="Arial"/>
              </a:rPr>
              <a:t>state loss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686800" y="2990088"/>
            <a:ext cx="713232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80" b="0">
                <a:solidFill>
                  <a:srgbClr val="647084"/>
                </a:solidFill>
                <a:latin typeface="Arial"/>
              </a:rPr>
              <a:t>KL off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449056" y="3675887"/>
            <a:ext cx="3072384" cy="2322576"/>
          </a:xfrm>
          <a:prstGeom prst="roundRect">
            <a:avLst/>
          </a:prstGeom>
          <a:solidFill>
            <a:srgbClr val="FFF5DF"/>
          </a:solidFill>
          <a:ln w="18415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8686800" y="3886200"/>
            <a:ext cx="2596896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990" b="1">
                <a:solidFill>
                  <a:srgbClr val="A46A00"/>
                </a:solidFill>
                <a:latin typeface="Arial"/>
              </a:rPr>
              <a:t>normalized KL Loss Only 500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31936" y="4315968"/>
            <a:ext cx="2688336" cy="146304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800" b="1">
                <a:solidFill>
                  <a:srgbClr val="172033"/>
                </a:solidFill>
                <a:latin typeface="Arial"/>
              </a:rPr>
              <a:t>attention map matches mined heatmap</a:t>
            </a:r>
          </a:p>
        </p:txBody>
      </p:sp>
      <p:pic>
        <p:nvPicPr>
          <p:cNvPr id="145" name="Picture 144" descr="propriovla_robot_observation_heatmap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4608576"/>
            <a:ext cx="786384" cy="475488"/>
          </a:xfrm>
          <a:prstGeom prst="rect">
            <a:avLst/>
          </a:prstGeom>
        </p:spPr>
      </p:pic>
      <p:cxnSp>
        <p:nvCxnSpPr>
          <p:cNvPr id="146" name="Connector 145"/>
          <p:cNvCxnSpPr/>
          <p:nvPr/>
        </p:nvCxnSpPr>
        <p:spPr>
          <a:xfrm>
            <a:off x="9473184" y="4846320"/>
            <a:ext cx="420624" cy="0"/>
          </a:xfrm>
          <a:prstGeom prst="line">
            <a:avLst/>
          </a:prstGeom>
          <a:ln w="14604">
            <a:solidFill>
              <a:srgbClr val="A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sosceles Triangle 146"/>
          <p:cNvSpPr/>
          <p:nvPr/>
        </p:nvSpPr>
        <p:spPr>
          <a:xfrm rot="5400000">
            <a:off x="9827514" y="4780026"/>
            <a:ext cx="132588" cy="132588"/>
          </a:xfrm>
          <a:prstGeom prst="triangle">
            <a:avLst/>
          </a:prstGeom>
          <a:solidFill>
            <a:srgbClr val="A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9912096" y="4626864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10030053" y="4626864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10148011" y="4626864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9912096" y="4744821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030053" y="4744821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148011" y="4744821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9912096" y="4862779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0030053" y="4862779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0148011" y="4862779"/>
            <a:ext cx="86868" cy="8686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10351008" y="4846320"/>
            <a:ext cx="420624" cy="0"/>
          </a:xfrm>
          <a:prstGeom prst="line">
            <a:avLst/>
          </a:prstGeom>
          <a:ln w="14604">
            <a:solidFill>
              <a:srgbClr val="A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Isosceles Triangle 157"/>
          <p:cNvSpPr/>
          <p:nvPr/>
        </p:nvSpPr>
        <p:spPr>
          <a:xfrm rot="5400000">
            <a:off x="10705338" y="4780026"/>
            <a:ext cx="132588" cy="132588"/>
          </a:xfrm>
          <a:prstGeom prst="triangle">
            <a:avLst/>
          </a:prstGeom>
          <a:solidFill>
            <a:srgbClr val="A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0771632" y="4617720"/>
            <a:ext cx="475488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780" b="1">
                <a:solidFill>
                  <a:srgbClr val="A46A00"/>
                </a:solidFill>
                <a:latin typeface="Arial"/>
              </a:rPr>
              <a:t>norm.</a:t>
            </a:r>
            <a:br/>
            <a:r>
              <a:rPr sz="780" b="1">
                <a:solidFill>
                  <a:srgbClr val="A46A00"/>
                </a:solidFill>
                <a:latin typeface="Arial"/>
              </a:rPr>
              <a:t>KL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619488" y="5440680"/>
            <a:ext cx="144475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rmAutofit/>
          </a:bodyPr>
          <a:lstStyle/>
          <a:p>
            <a:pPr algn="ctr"/>
            <a:r>
              <a:rPr sz="720" b="1">
                <a:solidFill>
                  <a:srgbClr val="A46A00"/>
                </a:solidFill>
                <a:latin typeface="Arial"/>
              </a:rPr>
              <a:t>normalized KL loss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05088" y="5504688"/>
            <a:ext cx="841248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80" b="0">
                <a:solidFill>
                  <a:srgbClr val="647084"/>
                </a:solidFill>
                <a:latin typeface="Arial"/>
              </a:rPr>
              <a:t>recon off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641080" y="5797296"/>
            <a:ext cx="2706624" cy="118872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ctr"/>
            <a:r>
              <a:rPr sz="690" b="0">
                <a:solidFill>
                  <a:srgbClr val="647084"/>
                </a:solidFill>
                <a:latin typeface="Arial"/>
              </a:rPr>
              <a:t>supervisors constrain the adapter only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94944" y="6409944"/>
            <a:ext cx="10899648" cy="292608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932688" y="6496812"/>
            <a:ext cx="64008" cy="6400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1019556" y="6496812"/>
            <a:ext cx="64008" cy="6400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1106424" y="6496812"/>
            <a:ext cx="64008" cy="64008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207008" y="6451092"/>
            <a:ext cx="1554480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l"/>
            <a:r>
              <a:rPr sz="650" b="1">
                <a:solidFill>
                  <a:srgbClr val="2F5D9E"/>
                </a:solidFill>
                <a:latin typeface="Arial"/>
              </a:rPr>
              <a:t>VLM/value embeddings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246120" y="6496812"/>
            <a:ext cx="64008" cy="64008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3332988" y="6496812"/>
            <a:ext cx="64008" cy="64008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3419856" y="6496812"/>
            <a:ext cx="64008" cy="64008"/>
          </a:xfrm>
          <a:prstGeom prst="roundRect">
            <a:avLst/>
          </a:prstGeom>
          <a:solidFill>
            <a:srgbClr val="EFF8EB"/>
          </a:solidFill>
          <a:ln w="1016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520439" y="6451092"/>
            <a:ext cx="1554480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l"/>
            <a:r>
              <a:rPr sz="650" b="1">
                <a:solidFill>
                  <a:srgbClr val="4E7B37"/>
                </a:solidFill>
                <a:latin typeface="Arial"/>
              </a:rPr>
              <a:t>state/query tokens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21808" y="6496812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5408676" y="6496812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5495544" y="6496812"/>
            <a:ext cx="64008" cy="64008"/>
          </a:xfrm>
          <a:prstGeom prst="roundRect">
            <a:avLst/>
          </a:prstGeom>
          <a:solidFill>
            <a:srgbClr val="FDE9D8"/>
          </a:solidFill>
          <a:ln w="1016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596128" y="6451092"/>
            <a:ext cx="1554480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l"/>
            <a:r>
              <a:rPr sz="650" b="1">
                <a:solidFill>
                  <a:srgbClr val="A55220"/>
                </a:solidFill>
                <a:latin typeface="Arial"/>
              </a:rPr>
              <a:t>attention weights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342631" y="6496812"/>
            <a:ext cx="64008" cy="64008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7429500" y="6496812"/>
            <a:ext cx="64008" cy="64008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7516367" y="6496812"/>
            <a:ext cx="64008" cy="64008"/>
          </a:xfrm>
          <a:prstGeom prst="roundRect">
            <a:avLst/>
          </a:prstGeom>
          <a:solidFill>
            <a:srgbClr val="F4F0FF"/>
          </a:solidFill>
          <a:ln w="1016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616952" y="6451092"/>
            <a:ext cx="1554480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l"/>
            <a:r>
              <a:rPr sz="650" b="1">
                <a:solidFill>
                  <a:srgbClr val="6650C7"/>
                </a:solidFill>
                <a:latin typeface="Arial"/>
              </a:rPr>
              <a:t>enhanced embedding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9509760" y="6496812"/>
            <a:ext cx="64008" cy="64008"/>
          </a:xfrm>
          <a:prstGeom prst="roundRect">
            <a:avLst/>
          </a:prstGeom>
          <a:solidFill>
            <a:srgbClr val="FFF4F5"/>
          </a:solidFill>
          <a:ln w="8255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9596628" y="6496812"/>
            <a:ext cx="64008" cy="64008"/>
          </a:xfrm>
          <a:prstGeom prst="roundRect">
            <a:avLst/>
          </a:prstGeom>
          <a:solidFill>
            <a:srgbClr val="F8CAD0"/>
          </a:solidFill>
          <a:ln w="8255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9683496" y="6496812"/>
            <a:ext cx="64008" cy="64008"/>
          </a:xfrm>
          <a:prstGeom prst="roundRect">
            <a:avLst/>
          </a:prstGeom>
          <a:solidFill>
            <a:srgbClr val="FFF4F5"/>
          </a:solidFill>
          <a:ln w="8255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784080" y="6451092"/>
            <a:ext cx="1554480" cy="128016"/>
          </a:xfrm>
          <a:prstGeom prst="rect">
            <a:avLst/>
          </a:prstGeom>
          <a:noFill/>
        </p:spPr>
        <p:txBody>
          <a:bodyPr wrap="square" lIns="27432" rIns="27432" tIns="0" bIns="0" anchor="ctr">
            <a:normAutofit/>
          </a:bodyPr>
          <a:lstStyle/>
          <a:p>
            <a:pPr algn="l"/>
            <a:r>
              <a:rPr sz="650" b="1">
                <a:solidFill>
                  <a:srgbClr val="BD3B4A"/>
                </a:solidFill>
                <a:latin typeface="Arial"/>
              </a:rPr>
              <a:t>mined heatmap</a:t>
            </a:r>
          </a:p>
        </p:txBody>
      </p:sp>
      <p:cxnSp>
        <p:nvCxnSpPr>
          <p:cNvPr id="184" name="Connector 183"/>
          <p:cNvCxnSpPr/>
          <p:nvPr/>
        </p:nvCxnSpPr>
        <p:spPr>
          <a:xfrm flipH="1">
            <a:off x="4846320" y="1773936"/>
            <a:ext cx="402336" cy="0"/>
          </a:xfrm>
          <a:prstGeom prst="line">
            <a:avLst/>
          </a:prstGeom>
          <a:ln w="1270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4846320" y="1773936"/>
            <a:ext cx="0" cy="1993392"/>
          </a:xfrm>
          <a:prstGeom prst="line">
            <a:avLst/>
          </a:prstGeom>
          <a:ln w="1270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Isosceles Triangle 185"/>
          <p:cNvSpPr/>
          <p:nvPr/>
        </p:nvSpPr>
        <p:spPr>
          <a:xfrm rot="10800000">
            <a:off x="4780026" y="3701034"/>
            <a:ext cx="132588" cy="132588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