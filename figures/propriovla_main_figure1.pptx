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706"/>
  </p:normalViewPr>
  <p:slideViewPr>
    <p:cSldViewPr snapToGrid="0" snapToObjects="1">
      <p:cViewPr>
        <p:scale>
          <a:sx n="69" d="100"/>
          <a:sy n="69" d="100"/>
        </p:scale>
        <p:origin x="1048" y="1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2336" y="146304"/>
            <a:ext cx="11384280" cy="34747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lnSpcReduction="10000"/>
          </a:bodyPr>
          <a:lstStyle/>
          <a:p>
            <a:pPr algn="ctr"/>
            <a:r>
              <a:rPr sz="2400" b="1" i="0">
                <a:solidFill>
                  <a:srgbClr val="2F5D9E"/>
                </a:solidFill>
                <a:latin typeface="Arial"/>
              </a:rPr>
              <a:t>ProprioVLA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" y="493776"/>
            <a:ext cx="11384280" cy="18288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1000" b="0" i="0">
                <a:solidFill>
                  <a:srgbClr val="647084"/>
                </a:solidFill>
                <a:latin typeface="Arial"/>
              </a:rPr>
              <a:t>State-conditioned visual grounding with two lightweight supervision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14400"/>
            <a:ext cx="7461504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46720" y="914400"/>
            <a:ext cx="3767328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813816"/>
            <a:ext cx="2670048" cy="310896"/>
          </a:xfrm>
          <a:prstGeom prst="roundRect">
            <a:avLst/>
          </a:prstGeom>
          <a:solidFill>
            <a:srgbClr val="EDF5FF"/>
          </a:solidFill>
          <a:ln w="1524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200" b="1">
                <a:solidFill>
                  <a:srgbClr val="2F5D9E"/>
                </a:solidFill>
                <a:latin typeface="Arial"/>
              </a:rPr>
              <a:t>Unified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813816"/>
            <a:ext cx="2578608" cy="310896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200" b="1">
                <a:solidFill>
                  <a:srgbClr val="172033"/>
                </a:solidFill>
                <a:latin typeface="Arial"/>
              </a:rPr>
              <a:t>Two Supervisors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918704" y="914400"/>
            <a:ext cx="0" cy="5431536"/>
          </a:xfrm>
          <a:prstGeom prst="line">
            <a:avLst/>
          </a:prstGeom>
          <a:ln w="1270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propriovla_robot_observation_roun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13232" y="1389888"/>
            <a:ext cx="2359152" cy="1417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" y="2852928"/>
            <a:ext cx="2139696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819" b="0" i="0">
                <a:solidFill>
                  <a:srgbClr val="647084"/>
                </a:solidFill>
                <a:latin typeface="Arial"/>
              </a:rPr>
              <a:t>observation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2231136" cy="457200"/>
          </a:xfrm>
          <a:prstGeom prst="roundRect">
            <a:avLst/>
          </a:prstGeom>
          <a:solidFill>
            <a:srgbClr val="EDF5FF"/>
          </a:solidFill>
          <a:ln w="1397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75004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344168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513332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682496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851660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19" y="3383280"/>
            <a:ext cx="896112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4023360"/>
            <a:ext cx="2231136" cy="457200"/>
          </a:xfrm>
          <a:prstGeom prst="roundRect">
            <a:avLst/>
          </a:prstGeom>
          <a:solidFill>
            <a:srgbClr val="EFF8EB"/>
          </a:solidFill>
          <a:ln w="1397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70432" y="4187952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344168" y="4187952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517904" y="4187952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691640" y="4187952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74519" y="4160520"/>
            <a:ext cx="896112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94176" y="1426464"/>
            <a:ext cx="1828800" cy="100584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895344" y="1627632"/>
            <a:ext cx="1426464" cy="201168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92500" lnSpcReduction="10000"/>
          </a:bodyPr>
          <a:lstStyle/>
          <a:p>
            <a:pPr algn="ctr"/>
            <a:r>
              <a:rPr sz="1500" b="1" i="0">
                <a:solidFill>
                  <a:srgbClr val="2F5D9E"/>
                </a:solidFill>
                <a:latin typeface="Arial"/>
              </a:rPr>
              <a:t>Base VLA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41648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233672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425696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617720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809744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77056" y="2212848"/>
            <a:ext cx="1463040" cy="146304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720" b="0" i="0">
                <a:solidFill>
                  <a:srgbClr val="647084"/>
                </a:solidFill>
                <a:latin typeface="Arial"/>
              </a:rPr>
              <a:t>multimodal representation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94176" y="3246120"/>
            <a:ext cx="1828800" cy="1298448"/>
          </a:xfrm>
          <a:prstGeom prst="roundRect">
            <a:avLst/>
          </a:prstGeom>
          <a:solidFill>
            <a:srgbClr val="F4F0FF"/>
          </a:solidFill>
          <a:ln w="1905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86784" y="3438144"/>
            <a:ext cx="1243584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92500" lnSpcReduction="10000"/>
          </a:bodyPr>
          <a:lstStyle/>
          <a:p>
            <a:pPr algn="ctr"/>
            <a:r>
              <a:rPr sz="1300" b="1">
                <a:solidFill>
                  <a:srgbClr val="6650C7"/>
                </a:solidFill>
                <a:latin typeface="Arial"/>
              </a:rPr>
              <a:t>Adapter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50208" y="3767328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4119372" y="3767328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288536" y="3767328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457700" y="3767328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709160" y="3703320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860036" y="3703320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010912" y="3703320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709160" y="3854196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860036" y="3854196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010912" y="3854196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251960" y="4160520"/>
            <a:ext cx="118872" cy="118872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4421124" y="4160520"/>
            <a:ext cx="118872" cy="118872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590288" y="4160520"/>
            <a:ext cx="118872" cy="118872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759452" y="4160520"/>
            <a:ext cx="118872" cy="118872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6163056" y="2103120"/>
            <a:ext cx="1097280" cy="96012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355080" y="2267712"/>
            <a:ext cx="713232" cy="18288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1200" b="1" i="0">
                <a:solidFill>
                  <a:srgbClr val="172033"/>
                </a:solidFill>
                <a:latin typeface="Arial"/>
              </a:rPr>
              <a:t>Fusion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82512" y="2615184"/>
            <a:ext cx="100584" cy="100584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524244" y="2615184"/>
            <a:ext cx="100584" cy="100584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665976" y="2615184"/>
            <a:ext cx="100584" cy="100584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702552" y="2615184"/>
            <a:ext cx="100584" cy="100584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6844284" y="2615184"/>
            <a:ext cx="100584" cy="100584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163056" y="3685032"/>
            <a:ext cx="1097280" cy="749808"/>
          </a:xfrm>
          <a:prstGeom prst="roundRect">
            <a:avLst/>
          </a:prstGeom>
          <a:solidFill>
            <a:srgbClr val="FDE9D8"/>
          </a:solidFill>
          <a:ln w="1778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050" b="1">
                <a:solidFill>
                  <a:srgbClr val="A55220"/>
                </a:solidFill>
                <a:latin typeface="Arial"/>
              </a:rPr>
              <a:t>Action</a:t>
            </a:r>
            <a:br/>
            <a:r>
              <a:rPr sz="1050" b="1">
                <a:solidFill>
                  <a:srgbClr val="A55220"/>
                </a:solidFill>
                <a:latin typeface="Arial"/>
              </a:rPr>
              <a:t>Head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016752" y="4754880"/>
            <a:ext cx="13898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272784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6419088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6565392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711696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6858000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17920" y="5212080"/>
            <a:ext cx="100584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740" b="0" i="0">
                <a:solidFill>
                  <a:srgbClr val="647084"/>
                </a:solidFill>
                <a:latin typeface="Arial"/>
              </a:rPr>
              <a:t>action chunk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072384" y="1965960"/>
            <a:ext cx="621792" cy="0"/>
          </a:xfrm>
          <a:prstGeom prst="line">
            <a:avLst/>
          </a:prstGeom>
          <a:ln w="18415">
            <a:solidFill>
              <a:srgbClr val="25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/>
          <p:cNvSpPr/>
          <p:nvPr/>
        </p:nvSpPr>
        <p:spPr>
          <a:xfrm rot="5400000">
            <a:off x="3625596" y="1897379"/>
            <a:ext cx="137160" cy="137160"/>
          </a:xfrm>
          <a:prstGeom prst="triangle">
            <a:avLst/>
          </a:prstGeom>
          <a:solidFill>
            <a:srgbClr val="25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/>
          <p:cNvCxnSpPr/>
          <p:nvPr/>
        </p:nvCxnSpPr>
        <p:spPr>
          <a:xfrm>
            <a:off x="3008376" y="3474720"/>
            <a:ext cx="301752" cy="0"/>
          </a:xfrm>
          <a:prstGeom prst="line">
            <a:avLst/>
          </a:prstGeom>
          <a:ln w="14604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310128" y="2176272"/>
            <a:ext cx="0" cy="1298448"/>
          </a:xfrm>
          <a:prstGeom prst="line">
            <a:avLst/>
          </a:prstGeom>
          <a:ln w="14604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3310128" y="2176272"/>
            <a:ext cx="384048" cy="0"/>
          </a:xfrm>
          <a:prstGeom prst="line">
            <a:avLst/>
          </a:prstGeom>
          <a:ln w="14604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5400000">
            <a:off x="3625596" y="2107691"/>
            <a:ext cx="137160" cy="137160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/>
          <p:cNvCxnSpPr/>
          <p:nvPr/>
        </p:nvCxnSpPr>
        <p:spPr>
          <a:xfrm>
            <a:off x="3008376" y="4251960"/>
            <a:ext cx="685800" cy="0"/>
          </a:xfrm>
          <a:prstGeom prst="line">
            <a:avLst/>
          </a:prstGeom>
          <a:ln w="17145">
            <a:solidFill>
              <a:srgbClr val="4E7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3625596" y="4183380"/>
            <a:ext cx="137160" cy="137160"/>
          </a:xfrm>
          <a:prstGeom prst="triangle">
            <a:avLst/>
          </a:prstGeom>
          <a:solidFill>
            <a:srgbClr val="4E7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4608576" y="2432304"/>
            <a:ext cx="0" cy="813816"/>
          </a:xfrm>
          <a:prstGeom prst="line">
            <a:avLst/>
          </a:prstGeom>
          <a:ln w="15875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/>
          <p:cNvSpPr/>
          <p:nvPr/>
        </p:nvSpPr>
        <p:spPr>
          <a:xfrm rot="10800000">
            <a:off x="4539996" y="3177539"/>
            <a:ext cx="137160" cy="137160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5" name="Connector 74"/>
          <p:cNvCxnSpPr/>
          <p:nvPr/>
        </p:nvCxnSpPr>
        <p:spPr>
          <a:xfrm>
            <a:off x="5522976" y="1929384"/>
            <a:ext cx="310896" cy="0"/>
          </a:xfrm>
          <a:prstGeom prst="line">
            <a:avLst/>
          </a:prstGeom>
          <a:ln w="1651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5833872" y="1929384"/>
            <a:ext cx="0" cy="576072"/>
          </a:xfrm>
          <a:prstGeom prst="line">
            <a:avLst/>
          </a:prstGeom>
          <a:ln w="1651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833872" y="2505456"/>
            <a:ext cx="329184" cy="0"/>
          </a:xfrm>
          <a:prstGeom prst="line">
            <a:avLst/>
          </a:prstGeom>
          <a:ln w="1651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5400000">
            <a:off x="6094476" y="2436876"/>
            <a:ext cx="137160" cy="137160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9" name="Connector 78"/>
          <p:cNvCxnSpPr/>
          <p:nvPr/>
        </p:nvCxnSpPr>
        <p:spPr>
          <a:xfrm>
            <a:off x="5522976" y="3895344"/>
            <a:ext cx="310896" cy="0"/>
          </a:xfrm>
          <a:prstGeom prst="line">
            <a:avLst/>
          </a:prstGeom>
          <a:ln w="1651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5833872" y="2788920"/>
            <a:ext cx="0" cy="1106424"/>
          </a:xfrm>
          <a:prstGeom prst="line">
            <a:avLst/>
          </a:prstGeom>
          <a:ln w="1651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5833872" y="2788920"/>
            <a:ext cx="329184" cy="0"/>
          </a:xfrm>
          <a:prstGeom prst="line">
            <a:avLst/>
          </a:prstGeom>
          <a:ln w="1651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5400000">
            <a:off x="6094476" y="2720339"/>
            <a:ext cx="137160" cy="137160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/>
          <p:cNvCxnSpPr/>
          <p:nvPr/>
        </p:nvCxnSpPr>
        <p:spPr>
          <a:xfrm>
            <a:off x="6711696" y="3063240"/>
            <a:ext cx="0" cy="621792"/>
          </a:xfrm>
          <a:prstGeom prst="line">
            <a:avLst/>
          </a:prstGeom>
          <a:ln w="17145">
            <a:solidFill>
              <a:srgbClr val="25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Isosceles Triangle 83"/>
          <p:cNvSpPr/>
          <p:nvPr/>
        </p:nvSpPr>
        <p:spPr>
          <a:xfrm rot="10800000">
            <a:off x="6643116" y="3616452"/>
            <a:ext cx="137160" cy="137160"/>
          </a:xfrm>
          <a:prstGeom prst="triangle">
            <a:avLst/>
          </a:prstGeom>
          <a:solidFill>
            <a:srgbClr val="25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5" name="Connector 84"/>
          <p:cNvCxnSpPr/>
          <p:nvPr/>
        </p:nvCxnSpPr>
        <p:spPr>
          <a:xfrm>
            <a:off x="6711696" y="4434840"/>
            <a:ext cx="0" cy="320040"/>
          </a:xfrm>
          <a:prstGeom prst="line">
            <a:avLst/>
          </a:prstGeom>
          <a:ln w="15875">
            <a:solidFill>
              <a:srgbClr val="25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10800000">
            <a:off x="6643116" y="4686300"/>
            <a:ext cx="137160" cy="137160"/>
          </a:xfrm>
          <a:prstGeom prst="triangle">
            <a:avLst/>
          </a:prstGeom>
          <a:solidFill>
            <a:srgbClr val="25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/>
          <p:cNvSpPr/>
          <p:nvPr/>
        </p:nvSpPr>
        <p:spPr>
          <a:xfrm>
            <a:off x="8321040" y="1353312"/>
            <a:ext cx="3255264" cy="2157984"/>
          </a:xfrm>
          <a:prstGeom prst="roundRect">
            <a:avLst/>
          </a:prstGeom>
          <a:solidFill>
            <a:srgbClr val="F4F0FF"/>
          </a:solidFill>
          <a:ln w="1905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/>
          <p:cNvSpPr/>
          <p:nvPr/>
        </p:nvSpPr>
        <p:spPr>
          <a:xfrm>
            <a:off x="8577072" y="1554480"/>
            <a:ext cx="27432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060" b="1">
                <a:solidFill>
                  <a:srgbClr val="6650C7"/>
                </a:solidFill>
                <a:latin typeface="Arial"/>
              </a:rPr>
              <a:t>StateReconstructionOnly 500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68512" y="1993392"/>
            <a:ext cx="2560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860" b="1" i="0">
                <a:solidFill>
                  <a:srgbClr val="172033"/>
                </a:solidFill>
                <a:latin typeface="Arial"/>
              </a:rPr>
              <a:t>reconstruct state from attended visual token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650224" y="2359152"/>
            <a:ext cx="566928" cy="402336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8741664" y="2496312"/>
            <a:ext cx="91440" cy="9144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8865108" y="2496312"/>
            <a:ext cx="91440" cy="9144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8988552" y="2496312"/>
            <a:ext cx="91440" cy="9144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93"/>
          <p:cNvCxnSpPr/>
          <p:nvPr/>
        </p:nvCxnSpPr>
        <p:spPr>
          <a:xfrm>
            <a:off x="9217152" y="2560320"/>
            <a:ext cx="457200" cy="0"/>
          </a:xfrm>
          <a:prstGeom prst="line">
            <a:avLst/>
          </a:prstGeom>
          <a:ln w="15875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 rot="5400000">
            <a:off x="9605772" y="2491739"/>
            <a:ext cx="137160" cy="137160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/>
          <p:cNvSpPr/>
          <p:nvPr/>
        </p:nvSpPr>
        <p:spPr>
          <a:xfrm>
            <a:off x="9674352" y="2267712"/>
            <a:ext cx="713232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860" b="1">
                <a:solidFill>
                  <a:srgbClr val="6650C7"/>
                </a:solidFill>
                <a:latin typeface="Arial"/>
              </a:rPr>
              <a:t>State</a:t>
            </a:r>
            <a:br/>
            <a:r>
              <a:rPr sz="860" b="1">
                <a:solidFill>
                  <a:srgbClr val="6650C7"/>
                </a:solidFill>
                <a:latin typeface="Arial"/>
              </a:rPr>
              <a:t>Decoder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387584" y="2560320"/>
            <a:ext cx="457200" cy="0"/>
          </a:xfrm>
          <a:prstGeom prst="line">
            <a:avLst/>
          </a:prstGeom>
          <a:ln w="15875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/>
          <p:cNvSpPr/>
          <p:nvPr/>
        </p:nvSpPr>
        <p:spPr>
          <a:xfrm rot="5400000">
            <a:off x="10776204" y="2491739"/>
            <a:ext cx="137160" cy="137160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/>
          <p:cNvSpPr/>
          <p:nvPr/>
        </p:nvSpPr>
        <p:spPr>
          <a:xfrm>
            <a:off x="10844784" y="2359152"/>
            <a:ext cx="438912" cy="402336"/>
          </a:xfrm>
          <a:prstGeom prst="roundRect">
            <a:avLst/>
          </a:prstGeom>
          <a:solidFill>
            <a:srgbClr val="EFF8EB"/>
          </a:solidFill>
          <a:ln w="1270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10917936" y="2496312"/>
            <a:ext cx="91440" cy="9144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/>
          <p:cNvSpPr/>
          <p:nvPr/>
        </p:nvSpPr>
        <p:spPr>
          <a:xfrm>
            <a:off x="11041380" y="2496312"/>
            <a:ext cx="91440" cy="9144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9564624" y="2999232"/>
            <a:ext cx="9144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800" b="1">
                <a:solidFill>
                  <a:srgbClr val="6650C7"/>
                </a:solidFill>
                <a:latin typeface="Arial"/>
              </a:rPr>
              <a:t>state loss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41080" y="3072384"/>
            <a:ext cx="841248" cy="128016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700" b="0" i="0">
                <a:solidFill>
                  <a:srgbClr val="647084"/>
                </a:solidFill>
                <a:latin typeface="Arial"/>
              </a:rPr>
              <a:t>KL off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321040" y="3803904"/>
            <a:ext cx="3255264" cy="2157984"/>
          </a:xfrm>
          <a:prstGeom prst="roundRect">
            <a:avLst/>
          </a:prstGeom>
          <a:solidFill>
            <a:srgbClr val="FFF5DF"/>
          </a:solidFill>
          <a:ln w="1905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/>
          <p:cNvSpPr/>
          <p:nvPr/>
        </p:nvSpPr>
        <p:spPr>
          <a:xfrm>
            <a:off x="8577072" y="4005072"/>
            <a:ext cx="27432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019" b="1">
                <a:solidFill>
                  <a:srgbClr val="A46A00"/>
                </a:solidFill>
                <a:latin typeface="Arial"/>
              </a:rPr>
              <a:t>normalized KL Loss Only 500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68512" y="4443984"/>
            <a:ext cx="2560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860" b="1" i="0">
                <a:solidFill>
                  <a:srgbClr val="172033"/>
                </a:solidFill>
                <a:latin typeface="Arial"/>
              </a:rPr>
              <a:t>match mined heatmap with attention tokens</a:t>
            </a:r>
          </a:p>
        </p:txBody>
      </p:sp>
      <p:pic>
        <p:nvPicPr>
          <p:cNvPr id="107" name="Picture 106" descr="propriovla_robot_observation_heatmap_roun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577072" y="4718304"/>
            <a:ext cx="841248" cy="502920"/>
          </a:xfrm>
          <a:prstGeom prst="rect">
            <a:avLst/>
          </a:prstGeom>
        </p:spPr>
      </p:pic>
      <p:cxnSp>
        <p:nvCxnSpPr>
          <p:cNvPr id="108" name="Connector 107"/>
          <p:cNvCxnSpPr/>
          <p:nvPr/>
        </p:nvCxnSpPr>
        <p:spPr>
          <a:xfrm>
            <a:off x="9445752" y="4974336"/>
            <a:ext cx="448056" cy="0"/>
          </a:xfrm>
          <a:prstGeom prst="line">
            <a:avLst/>
          </a:prstGeom>
          <a:ln w="15240">
            <a:solidFill>
              <a:srgbClr val="A4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Isosceles Triangle 108"/>
          <p:cNvSpPr/>
          <p:nvPr/>
        </p:nvSpPr>
        <p:spPr>
          <a:xfrm rot="5400000">
            <a:off x="9825228" y="4905756"/>
            <a:ext cx="137160" cy="137160"/>
          </a:xfrm>
          <a:prstGeom prst="triangle">
            <a:avLst/>
          </a:prstGeom>
          <a:solidFill>
            <a:srgbClr val="A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/>
          <p:cNvSpPr/>
          <p:nvPr/>
        </p:nvSpPr>
        <p:spPr>
          <a:xfrm>
            <a:off x="9902952" y="4736592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/>
          <p:cNvSpPr/>
          <p:nvPr/>
        </p:nvSpPr>
        <p:spPr>
          <a:xfrm>
            <a:off x="10030968" y="4736592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/>
          <p:cNvSpPr/>
          <p:nvPr/>
        </p:nvSpPr>
        <p:spPr>
          <a:xfrm>
            <a:off x="10158984" y="4736592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/>
          <p:cNvSpPr/>
          <p:nvPr/>
        </p:nvSpPr>
        <p:spPr>
          <a:xfrm>
            <a:off x="9902952" y="4864607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/>
          <p:cNvSpPr/>
          <p:nvPr/>
        </p:nvSpPr>
        <p:spPr>
          <a:xfrm>
            <a:off x="10030968" y="4864607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/>
          <p:cNvSpPr/>
          <p:nvPr/>
        </p:nvSpPr>
        <p:spPr>
          <a:xfrm>
            <a:off x="10158984" y="4864607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/>
          <p:cNvSpPr/>
          <p:nvPr/>
        </p:nvSpPr>
        <p:spPr>
          <a:xfrm>
            <a:off x="9902952" y="4992624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/>
          <p:cNvSpPr/>
          <p:nvPr/>
        </p:nvSpPr>
        <p:spPr>
          <a:xfrm>
            <a:off x="10030968" y="4992624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/>
          <p:cNvSpPr/>
          <p:nvPr/>
        </p:nvSpPr>
        <p:spPr>
          <a:xfrm>
            <a:off x="10158984" y="4992624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" name="Connector 118"/>
          <p:cNvCxnSpPr/>
          <p:nvPr/>
        </p:nvCxnSpPr>
        <p:spPr>
          <a:xfrm>
            <a:off x="10378440" y="4974336"/>
            <a:ext cx="429768" cy="0"/>
          </a:xfrm>
          <a:prstGeom prst="line">
            <a:avLst/>
          </a:prstGeom>
          <a:ln w="15240">
            <a:solidFill>
              <a:srgbClr val="A4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5400000">
            <a:off x="10739628" y="4905756"/>
            <a:ext cx="137160" cy="137160"/>
          </a:xfrm>
          <a:prstGeom prst="triangle">
            <a:avLst/>
          </a:prstGeom>
          <a:solidFill>
            <a:srgbClr val="A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/>
          <p:cNvSpPr/>
          <p:nvPr/>
        </p:nvSpPr>
        <p:spPr>
          <a:xfrm>
            <a:off x="10808208" y="4736592"/>
            <a:ext cx="512064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830" b="1">
                <a:solidFill>
                  <a:srgbClr val="A46A00"/>
                </a:solidFill>
                <a:latin typeface="Arial"/>
              </a:rPr>
              <a:t>norm.</a:t>
            </a:r>
            <a:br/>
            <a:r>
              <a:rPr sz="830" b="1">
                <a:solidFill>
                  <a:srgbClr val="A46A00"/>
                </a:solidFill>
                <a:latin typeface="Arial"/>
              </a:rPr>
              <a:t>KL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674352" y="5522976"/>
            <a:ext cx="133502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750" b="1">
                <a:solidFill>
                  <a:srgbClr val="A46A00"/>
                </a:solidFill>
                <a:latin typeface="Arial"/>
              </a:rPr>
              <a:t>normalized KL loss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641080" y="5596128"/>
            <a:ext cx="868680" cy="128016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700" b="0" i="0">
                <a:solidFill>
                  <a:srgbClr val="647084"/>
                </a:solidFill>
                <a:latin typeface="Arial"/>
              </a:rPr>
              <a:t>recon off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94944" y="6382512"/>
            <a:ext cx="10899648" cy="310896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/>
          <p:cNvSpPr/>
          <p:nvPr/>
        </p:nvSpPr>
        <p:spPr>
          <a:xfrm>
            <a:off x="932688" y="6496812"/>
            <a:ext cx="68580" cy="6858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/>
          <p:cNvSpPr/>
          <p:nvPr/>
        </p:nvSpPr>
        <p:spPr>
          <a:xfrm>
            <a:off x="1024128" y="6496812"/>
            <a:ext cx="68580" cy="6858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/>
          <p:cNvSpPr/>
          <p:nvPr/>
        </p:nvSpPr>
        <p:spPr>
          <a:xfrm>
            <a:off x="1115568" y="6496812"/>
            <a:ext cx="68580" cy="6858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207008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l"/>
            <a:r>
              <a:rPr sz="680" b="1" i="0">
                <a:solidFill>
                  <a:srgbClr val="2F5D9E"/>
                </a:solidFill>
                <a:latin typeface="Arial"/>
              </a:rPr>
              <a:t>visual-language tokens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907792" y="6496812"/>
            <a:ext cx="68580" cy="6858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/>
          <p:cNvSpPr/>
          <p:nvPr/>
        </p:nvSpPr>
        <p:spPr>
          <a:xfrm>
            <a:off x="2999232" y="6496812"/>
            <a:ext cx="68580" cy="6858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/>
          <p:cNvSpPr/>
          <p:nvPr/>
        </p:nvSpPr>
        <p:spPr>
          <a:xfrm>
            <a:off x="3090672" y="6496812"/>
            <a:ext cx="68580" cy="6858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3182112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55000" lnSpcReduction="20000"/>
          </a:bodyPr>
          <a:lstStyle/>
          <a:p>
            <a:pPr algn="l"/>
            <a:endParaRPr/>
          </a:p>
        </p:txBody>
      </p:sp>
      <p:sp>
        <p:nvSpPr>
          <p:cNvPr id="133" name="Rounded Rectangle 132"/>
          <p:cNvSpPr/>
          <p:nvPr/>
        </p:nvSpPr>
        <p:spPr>
          <a:xfrm>
            <a:off x="4681728" y="6496812"/>
            <a:ext cx="68580" cy="6858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/>
          <p:cNvSpPr/>
          <p:nvPr/>
        </p:nvSpPr>
        <p:spPr>
          <a:xfrm>
            <a:off x="4773168" y="6496812"/>
            <a:ext cx="68580" cy="6858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/>
          <p:cNvSpPr/>
          <p:nvPr/>
        </p:nvSpPr>
        <p:spPr>
          <a:xfrm>
            <a:off x="4864608" y="6496812"/>
            <a:ext cx="68580" cy="6858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4956048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l"/>
            <a:r>
              <a:rPr sz="680" b="1" i="0">
                <a:solidFill>
                  <a:srgbClr val="6650C7"/>
                </a:solidFill>
                <a:latin typeface="Arial"/>
              </a:rPr>
              <a:t>self-grounded visual tokens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7059168" y="6496812"/>
            <a:ext cx="68580" cy="68580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/>
          <p:cNvSpPr/>
          <p:nvPr/>
        </p:nvSpPr>
        <p:spPr>
          <a:xfrm>
            <a:off x="7150607" y="6496812"/>
            <a:ext cx="68580" cy="68580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/>
          <p:cNvSpPr/>
          <p:nvPr/>
        </p:nvSpPr>
        <p:spPr>
          <a:xfrm>
            <a:off x="7242048" y="6496812"/>
            <a:ext cx="68580" cy="68580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7333488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l"/>
            <a:r>
              <a:rPr sz="680" b="1" i="0">
                <a:solidFill>
                  <a:srgbClr val="A55220"/>
                </a:solidFill>
                <a:latin typeface="Arial"/>
              </a:rPr>
              <a:t>attention tokens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8887968" y="6496812"/>
            <a:ext cx="68580" cy="68580"/>
          </a:xfrm>
          <a:prstGeom prst="roundRect">
            <a:avLst/>
          </a:prstGeom>
          <a:solidFill>
            <a:srgbClr val="FFF0F2"/>
          </a:solidFill>
          <a:ln w="11430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/>
          <p:cNvSpPr/>
          <p:nvPr/>
        </p:nvSpPr>
        <p:spPr>
          <a:xfrm>
            <a:off x="8979408" y="6496812"/>
            <a:ext cx="68580" cy="68580"/>
          </a:xfrm>
          <a:prstGeom prst="roundRect">
            <a:avLst/>
          </a:prstGeom>
          <a:solidFill>
            <a:srgbClr val="FFF0F2"/>
          </a:solidFill>
          <a:ln w="11430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/>
          <p:cNvSpPr/>
          <p:nvPr/>
        </p:nvSpPr>
        <p:spPr>
          <a:xfrm>
            <a:off x="9070848" y="6496812"/>
            <a:ext cx="68580" cy="68580"/>
          </a:xfrm>
          <a:prstGeom prst="roundRect">
            <a:avLst/>
          </a:prstGeom>
          <a:solidFill>
            <a:srgbClr val="FFF0F2"/>
          </a:solidFill>
          <a:ln w="11430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9162288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l"/>
            <a:r>
              <a:rPr sz="680" b="1" i="0">
                <a:solidFill>
                  <a:srgbClr val="BD3B4A"/>
                </a:solidFill>
                <a:latin typeface="Arial"/>
              </a:rPr>
              <a:t>mined heatmap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82112" y="6451092"/>
            <a:ext cx="1097280" cy="1371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/>
            <a:r>
              <a:rPr sz="680" b="1">
                <a:solidFill>
                  <a:srgbClr val="4E7B37"/>
                </a:solidFill>
                <a:latin typeface="Arial"/>
              </a:rPr>
              <a:t>state tokens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01E89-5348-0EC2-4AA8-6AEB6FE9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0A3F96-DF56-00D3-4AD0-FE4100EE8737}"/>
              </a:ext>
            </a:extLst>
          </p:cNvPr>
          <p:cNvSpPr/>
          <p:nvPr/>
        </p:nvSpPr>
        <p:spPr>
          <a:xfrm>
            <a:off x="1" y="274320"/>
            <a:ext cx="12191999" cy="68580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D74727-E4B7-959B-B3DD-CE57B5A965A6}"/>
              </a:ext>
            </a:extLst>
          </p:cNvPr>
          <p:cNvSpPr txBox="1"/>
          <p:nvPr/>
        </p:nvSpPr>
        <p:spPr>
          <a:xfrm>
            <a:off x="402336" y="146304"/>
            <a:ext cx="11384280" cy="34747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lnSpcReduction="10000"/>
          </a:bodyPr>
          <a:lstStyle/>
          <a:p>
            <a:pPr algn="ctr"/>
            <a:r>
              <a:rPr sz="2400" b="1" i="0" dirty="0" err="1">
                <a:solidFill>
                  <a:srgbClr val="2F5D9E"/>
                </a:solidFill>
                <a:latin typeface="Arial"/>
              </a:rPr>
              <a:t>ProprioVLA</a:t>
            </a:r>
            <a:endParaRPr sz="2400" b="1" i="0" dirty="0">
              <a:solidFill>
                <a:srgbClr val="2F5D9E"/>
              </a:solidFill>
              <a:latin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2113F7-D15A-5684-457C-7B27A4BD3B91}"/>
              </a:ext>
            </a:extLst>
          </p:cNvPr>
          <p:cNvSpPr txBox="1"/>
          <p:nvPr/>
        </p:nvSpPr>
        <p:spPr>
          <a:xfrm>
            <a:off x="402336" y="493776"/>
            <a:ext cx="11384280" cy="18288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1000" b="0" i="0" dirty="0">
                <a:solidFill>
                  <a:srgbClr val="647084"/>
                </a:solidFill>
                <a:latin typeface="Arial"/>
              </a:rPr>
              <a:t>State-conditioned visual grounding with two lightweight supervision choices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F3B22D6-486D-650C-484A-827FB272BA8B}"/>
              </a:ext>
            </a:extLst>
          </p:cNvPr>
          <p:cNvSpPr/>
          <p:nvPr/>
        </p:nvSpPr>
        <p:spPr>
          <a:xfrm>
            <a:off x="8046720" y="914400"/>
            <a:ext cx="3767328" cy="5413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ED9C32-7BB5-97ED-9134-C4D0BAD980BF}"/>
              </a:ext>
            </a:extLst>
          </p:cNvPr>
          <p:cNvSpPr/>
          <p:nvPr/>
        </p:nvSpPr>
        <p:spPr>
          <a:xfrm>
            <a:off x="640080" y="813816"/>
            <a:ext cx="2670048" cy="310896"/>
          </a:xfrm>
          <a:prstGeom prst="roundRect">
            <a:avLst/>
          </a:prstGeom>
          <a:solidFill>
            <a:srgbClr val="EDF5FF"/>
          </a:solidFill>
          <a:ln w="1524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200" b="1">
                <a:solidFill>
                  <a:srgbClr val="2F5D9E"/>
                </a:solidFill>
                <a:latin typeface="Arial"/>
              </a:rPr>
              <a:t>Unified Framework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1A8F89-5802-D49F-5E44-82B2894887C5}"/>
              </a:ext>
            </a:extLst>
          </p:cNvPr>
          <p:cNvSpPr/>
          <p:nvPr/>
        </p:nvSpPr>
        <p:spPr>
          <a:xfrm>
            <a:off x="8275320" y="813816"/>
            <a:ext cx="2578608" cy="310896"/>
          </a:xfrm>
          <a:prstGeom prst="roundRect">
            <a:avLst/>
          </a:prstGeom>
          <a:solidFill>
            <a:srgbClr val="F7F9FC"/>
          </a:solidFill>
          <a:ln w="1524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200" b="1">
                <a:solidFill>
                  <a:srgbClr val="172033"/>
                </a:solidFill>
                <a:latin typeface="Arial"/>
              </a:rPr>
              <a:t>Two Supervisors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DAC2F9F7-7C68-BB21-41D6-B9BCCEE05316}"/>
              </a:ext>
            </a:extLst>
          </p:cNvPr>
          <p:cNvCxnSpPr/>
          <p:nvPr/>
        </p:nvCxnSpPr>
        <p:spPr>
          <a:xfrm>
            <a:off x="7918704" y="914400"/>
            <a:ext cx="0" cy="5431536"/>
          </a:xfrm>
          <a:prstGeom prst="line">
            <a:avLst/>
          </a:prstGeom>
          <a:ln w="12700">
            <a:solidFill>
              <a:srgbClr val="D9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propriovla_robot_observation_rounded.png">
            <a:extLst>
              <a:ext uri="{FF2B5EF4-FFF2-40B4-BE49-F238E27FC236}">
                <a16:creationId xmlns:a16="http://schemas.microsoft.com/office/drawing/2014/main" id="{16154946-1277-0F63-3A37-806E9809984B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13232" y="1389888"/>
            <a:ext cx="2359152" cy="14173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8E32B3-BD07-20B4-5830-22391F26D0F1}"/>
              </a:ext>
            </a:extLst>
          </p:cNvPr>
          <p:cNvSpPr txBox="1"/>
          <p:nvPr/>
        </p:nvSpPr>
        <p:spPr>
          <a:xfrm>
            <a:off x="822960" y="2852928"/>
            <a:ext cx="2139696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819" b="0" i="0">
                <a:solidFill>
                  <a:srgbClr val="647084"/>
                </a:solidFill>
                <a:latin typeface="Arial"/>
              </a:rPr>
              <a:t>observation image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BC1C1F9-4D8B-48D8-71A8-6DC61E09B7B7}"/>
              </a:ext>
            </a:extLst>
          </p:cNvPr>
          <p:cNvSpPr/>
          <p:nvPr/>
        </p:nvSpPr>
        <p:spPr>
          <a:xfrm>
            <a:off x="777240" y="3246120"/>
            <a:ext cx="2231136" cy="457200"/>
          </a:xfrm>
          <a:prstGeom prst="roundRect">
            <a:avLst/>
          </a:prstGeom>
          <a:solidFill>
            <a:srgbClr val="EDF5FF"/>
          </a:solidFill>
          <a:ln w="1397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8B7C26-8C7B-A0D5-F70F-89A8C5C3F931}"/>
              </a:ext>
            </a:extLst>
          </p:cNvPr>
          <p:cNvSpPr/>
          <p:nvPr/>
        </p:nvSpPr>
        <p:spPr>
          <a:xfrm>
            <a:off x="1005840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0DC45DC-BBB8-E55A-0A96-5B96D5B63457}"/>
              </a:ext>
            </a:extLst>
          </p:cNvPr>
          <p:cNvSpPr/>
          <p:nvPr/>
        </p:nvSpPr>
        <p:spPr>
          <a:xfrm>
            <a:off x="1175004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8FAF21-D37C-3E47-20C6-FA3378435176}"/>
              </a:ext>
            </a:extLst>
          </p:cNvPr>
          <p:cNvSpPr/>
          <p:nvPr/>
        </p:nvSpPr>
        <p:spPr>
          <a:xfrm>
            <a:off x="1344168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A5FE77F-3BEC-3B01-C88F-53980845BC63}"/>
              </a:ext>
            </a:extLst>
          </p:cNvPr>
          <p:cNvSpPr/>
          <p:nvPr/>
        </p:nvSpPr>
        <p:spPr>
          <a:xfrm>
            <a:off x="1513332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BF2DF49-4601-2054-C477-4A83EF0A48D9}"/>
              </a:ext>
            </a:extLst>
          </p:cNvPr>
          <p:cNvSpPr/>
          <p:nvPr/>
        </p:nvSpPr>
        <p:spPr>
          <a:xfrm>
            <a:off x="1682496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14D2F85-7F3E-3DB5-7602-A24E8982D182}"/>
              </a:ext>
            </a:extLst>
          </p:cNvPr>
          <p:cNvSpPr/>
          <p:nvPr/>
        </p:nvSpPr>
        <p:spPr>
          <a:xfrm>
            <a:off x="1851660" y="3410712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53F7A8-4D8F-D1D6-626B-AAE19CA0327E}"/>
              </a:ext>
            </a:extLst>
          </p:cNvPr>
          <p:cNvSpPr txBox="1"/>
          <p:nvPr/>
        </p:nvSpPr>
        <p:spPr>
          <a:xfrm>
            <a:off x="1874519" y="3383280"/>
            <a:ext cx="896112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59DD1AE-3D27-E67A-2EBF-2A28645E0151}"/>
              </a:ext>
            </a:extLst>
          </p:cNvPr>
          <p:cNvSpPr/>
          <p:nvPr/>
        </p:nvSpPr>
        <p:spPr>
          <a:xfrm>
            <a:off x="777240" y="4023360"/>
            <a:ext cx="2231136" cy="457200"/>
          </a:xfrm>
          <a:prstGeom prst="roundRect">
            <a:avLst/>
          </a:prstGeom>
          <a:solidFill>
            <a:srgbClr val="EFF8EB"/>
          </a:solidFill>
          <a:ln w="1397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C8DF2B0-BF45-862E-2704-5A918AF47970}"/>
              </a:ext>
            </a:extLst>
          </p:cNvPr>
          <p:cNvSpPr/>
          <p:nvPr/>
        </p:nvSpPr>
        <p:spPr>
          <a:xfrm>
            <a:off x="1170432" y="4187952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2C4D5AE-ABBB-5CE7-CC42-A302B90F62D1}"/>
              </a:ext>
            </a:extLst>
          </p:cNvPr>
          <p:cNvSpPr/>
          <p:nvPr/>
        </p:nvSpPr>
        <p:spPr>
          <a:xfrm>
            <a:off x="1344168" y="4187952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780BEA0-5AAB-19BA-DA56-D5DBED0B608A}"/>
              </a:ext>
            </a:extLst>
          </p:cNvPr>
          <p:cNvSpPr/>
          <p:nvPr/>
        </p:nvSpPr>
        <p:spPr>
          <a:xfrm>
            <a:off x="1517904" y="4187952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FA463CF-4A3B-5FEC-C138-761A4788DCD2}"/>
              </a:ext>
            </a:extLst>
          </p:cNvPr>
          <p:cNvSpPr/>
          <p:nvPr/>
        </p:nvSpPr>
        <p:spPr>
          <a:xfrm>
            <a:off x="1691640" y="4187952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642CB2-0C7F-7269-88DA-40A62163C891}"/>
              </a:ext>
            </a:extLst>
          </p:cNvPr>
          <p:cNvSpPr txBox="1"/>
          <p:nvPr/>
        </p:nvSpPr>
        <p:spPr>
          <a:xfrm>
            <a:off x="1874519" y="4160520"/>
            <a:ext cx="896112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C90DF2C-D5AF-B77D-4DB6-F4D8B6DB5D2C}"/>
              </a:ext>
            </a:extLst>
          </p:cNvPr>
          <p:cNvSpPr/>
          <p:nvPr/>
        </p:nvSpPr>
        <p:spPr>
          <a:xfrm>
            <a:off x="3694176" y="1426464"/>
            <a:ext cx="1828800" cy="100584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2C5218-F8E4-6AF3-B79D-E0194529D861}"/>
              </a:ext>
            </a:extLst>
          </p:cNvPr>
          <p:cNvSpPr txBox="1"/>
          <p:nvPr/>
        </p:nvSpPr>
        <p:spPr>
          <a:xfrm>
            <a:off x="3895344" y="1627632"/>
            <a:ext cx="1426464" cy="201168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92500" lnSpcReduction="10000"/>
          </a:bodyPr>
          <a:lstStyle/>
          <a:p>
            <a:pPr algn="ctr"/>
            <a:r>
              <a:rPr sz="1500" b="1" i="0">
                <a:solidFill>
                  <a:srgbClr val="2F5D9E"/>
                </a:solidFill>
                <a:latin typeface="Arial"/>
              </a:rPr>
              <a:t>Base VLA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4B2FD5F-B653-9546-DCBD-0485F67631FA}"/>
              </a:ext>
            </a:extLst>
          </p:cNvPr>
          <p:cNvSpPr/>
          <p:nvPr/>
        </p:nvSpPr>
        <p:spPr>
          <a:xfrm>
            <a:off x="4041648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DA45791-AA0F-36D0-5073-01645AB5FB29}"/>
              </a:ext>
            </a:extLst>
          </p:cNvPr>
          <p:cNvSpPr/>
          <p:nvPr/>
        </p:nvSpPr>
        <p:spPr>
          <a:xfrm>
            <a:off x="4233672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0DCFEF6-A576-4CA0-93DC-1A7A5D753203}"/>
              </a:ext>
            </a:extLst>
          </p:cNvPr>
          <p:cNvSpPr/>
          <p:nvPr/>
        </p:nvSpPr>
        <p:spPr>
          <a:xfrm>
            <a:off x="4425696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AFD8669-8FC8-5EA3-5A73-9B3FEA37BA52}"/>
              </a:ext>
            </a:extLst>
          </p:cNvPr>
          <p:cNvSpPr/>
          <p:nvPr/>
        </p:nvSpPr>
        <p:spPr>
          <a:xfrm>
            <a:off x="4617720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D1E7EF9-7CC4-0ADF-E890-915DC8766DAB}"/>
              </a:ext>
            </a:extLst>
          </p:cNvPr>
          <p:cNvSpPr/>
          <p:nvPr/>
        </p:nvSpPr>
        <p:spPr>
          <a:xfrm>
            <a:off x="4809744" y="1984248"/>
            <a:ext cx="137160" cy="13716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11C1C9-4EAF-A3AF-A47B-16908B048B4A}"/>
              </a:ext>
            </a:extLst>
          </p:cNvPr>
          <p:cNvSpPr txBox="1"/>
          <p:nvPr/>
        </p:nvSpPr>
        <p:spPr>
          <a:xfrm>
            <a:off x="3877056" y="2212848"/>
            <a:ext cx="1463040" cy="146304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720" b="0" i="0">
                <a:solidFill>
                  <a:srgbClr val="647084"/>
                </a:solidFill>
                <a:latin typeface="Arial"/>
              </a:rPr>
              <a:t>multimodal representation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F014121-F33E-4737-47DE-9F640E4487DC}"/>
              </a:ext>
            </a:extLst>
          </p:cNvPr>
          <p:cNvSpPr/>
          <p:nvPr/>
        </p:nvSpPr>
        <p:spPr>
          <a:xfrm>
            <a:off x="3694176" y="3246120"/>
            <a:ext cx="1828800" cy="1298448"/>
          </a:xfrm>
          <a:prstGeom prst="roundRect">
            <a:avLst/>
          </a:prstGeom>
          <a:solidFill>
            <a:srgbClr val="F4F0FF"/>
          </a:solidFill>
          <a:ln w="1905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125837-D208-CF6C-254A-DCA931C19446}"/>
              </a:ext>
            </a:extLst>
          </p:cNvPr>
          <p:cNvSpPr txBox="1"/>
          <p:nvPr/>
        </p:nvSpPr>
        <p:spPr>
          <a:xfrm>
            <a:off x="3986784" y="3438144"/>
            <a:ext cx="1243584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92500" lnSpcReduction="10000"/>
          </a:bodyPr>
          <a:lstStyle/>
          <a:p>
            <a:pPr algn="ctr"/>
            <a:r>
              <a:rPr sz="1300" b="1">
                <a:solidFill>
                  <a:srgbClr val="6650C7"/>
                </a:solidFill>
                <a:latin typeface="Arial"/>
              </a:rPr>
              <a:t>Adapter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949AC379-1BF7-6E79-86F9-3D553B129871}"/>
              </a:ext>
            </a:extLst>
          </p:cNvPr>
          <p:cNvSpPr/>
          <p:nvPr/>
        </p:nvSpPr>
        <p:spPr>
          <a:xfrm>
            <a:off x="3950208" y="3767328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4E7E01D3-D294-C45E-D92B-DCFFC27DF0A0}"/>
              </a:ext>
            </a:extLst>
          </p:cNvPr>
          <p:cNvSpPr/>
          <p:nvPr/>
        </p:nvSpPr>
        <p:spPr>
          <a:xfrm>
            <a:off x="4119372" y="3767328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4E1BFEC-64D5-EFFC-2851-3BED9AB1093D}"/>
              </a:ext>
            </a:extLst>
          </p:cNvPr>
          <p:cNvSpPr/>
          <p:nvPr/>
        </p:nvSpPr>
        <p:spPr>
          <a:xfrm>
            <a:off x="4288536" y="3767328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840E0645-A2B5-C6BD-ECBA-9FCBAC150579}"/>
              </a:ext>
            </a:extLst>
          </p:cNvPr>
          <p:cNvSpPr/>
          <p:nvPr/>
        </p:nvSpPr>
        <p:spPr>
          <a:xfrm>
            <a:off x="4457700" y="3767328"/>
            <a:ext cx="118872" cy="118872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D383576-CFFC-9C92-16C3-A180FC434867}"/>
              </a:ext>
            </a:extLst>
          </p:cNvPr>
          <p:cNvSpPr/>
          <p:nvPr/>
        </p:nvSpPr>
        <p:spPr>
          <a:xfrm>
            <a:off x="4709160" y="3703320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C6C653C-D8AF-0FEB-B572-814ACE36260C}"/>
              </a:ext>
            </a:extLst>
          </p:cNvPr>
          <p:cNvSpPr/>
          <p:nvPr/>
        </p:nvSpPr>
        <p:spPr>
          <a:xfrm>
            <a:off x="4860036" y="3703320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6F718DAA-1014-27BD-1239-04482431CC85}"/>
              </a:ext>
            </a:extLst>
          </p:cNvPr>
          <p:cNvSpPr/>
          <p:nvPr/>
        </p:nvSpPr>
        <p:spPr>
          <a:xfrm>
            <a:off x="5010912" y="3703320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60592C2-C0AB-18C5-382D-5956391D52B9}"/>
              </a:ext>
            </a:extLst>
          </p:cNvPr>
          <p:cNvSpPr/>
          <p:nvPr/>
        </p:nvSpPr>
        <p:spPr>
          <a:xfrm>
            <a:off x="4709160" y="3854196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7D5D004-02F3-8FF5-8C2A-8FDED97A0513}"/>
              </a:ext>
            </a:extLst>
          </p:cNvPr>
          <p:cNvSpPr/>
          <p:nvPr/>
        </p:nvSpPr>
        <p:spPr>
          <a:xfrm>
            <a:off x="4860036" y="3854196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6393A76E-CB5F-B231-3C62-594D08DBDD51}"/>
              </a:ext>
            </a:extLst>
          </p:cNvPr>
          <p:cNvSpPr/>
          <p:nvPr/>
        </p:nvSpPr>
        <p:spPr>
          <a:xfrm>
            <a:off x="5010912" y="3854196"/>
            <a:ext cx="109728" cy="109728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D845E66-3E4D-7BCF-B420-E7282391A8F0}"/>
              </a:ext>
            </a:extLst>
          </p:cNvPr>
          <p:cNvSpPr/>
          <p:nvPr/>
        </p:nvSpPr>
        <p:spPr>
          <a:xfrm>
            <a:off x="4251960" y="4160520"/>
            <a:ext cx="118872" cy="118872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0DF37AEF-9D68-BFB8-8B8B-AD0530399180}"/>
              </a:ext>
            </a:extLst>
          </p:cNvPr>
          <p:cNvSpPr/>
          <p:nvPr/>
        </p:nvSpPr>
        <p:spPr>
          <a:xfrm>
            <a:off x="4421124" y="4160520"/>
            <a:ext cx="118872" cy="118872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EAC774B4-DB03-D86A-6480-A768FF49EC10}"/>
              </a:ext>
            </a:extLst>
          </p:cNvPr>
          <p:cNvSpPr/>
          <p:nvPr/>
        </p:nvSpPr>
        <p:spPr>
          <a:xfrm>
            <a:off x="4590288" y="4160520"/>
            <a:ext cx="118872" cy="118872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81F126F1-5E6C-3D2E-A782-61529A4DF4FE}"/>
              </a:ext>
            </a:extLst>
          </p:cNvPr>
          <p:cNvSpPr/>
          <p:nvPr/>
        </p:nvSpPr>
        <p:spPr>
          <a:xfrm>
            <a:off x="4759452" y="4160520"/>
            <a:ext cx="118872" cy="118872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D763CAD3-144A-E143-F45E-81BF7B34878C}"/>
              </a:ext>
            </a:extLst>
          </p:cNvPr>
          <p:cNvSpPr/>
          <p:nvPr/>
        </p:nvSpPr>
        <p:spPr>
          <a:xfrm>
            <a:off x="6163056" y="2103120"/>
            <a:ext cx="1097280" cy="960120"/>
          </a:xfrm>
          <a:prstGeom prst="roundRect">
            <a:avLst/>
          </a:prstGeom>
          <a:solidFill>
            <a:srgbClr val="F7F9FC"/>
          </a:solidFill>
          <a:ln w="15875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EA5E145-4245-ACD2-243A-BFB9A2F7EAB3}"/>
              </a:ext>
            </a:extLst>
          </p:cNvPr>
          <p:cNvSpPr txBox="1"/>
          <p:nvPr/>
        </p:nvSpPr>
        <p:spPr>
          <a:xfrm>
            <a:off x="6355080" y="2267712"/>
            <a:ext cx="713232" cy="18288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1200" b="1" i="0">
                <a:solidFill>
                  <a:srgbClr val="172033"/>
                </a:solidFill>
                <a:latin typeface="Arial"/>
              </a:rPr>
              <a:t>Fusion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980EA53D-DA68-BD3C-7D28-D944298758A7}"/>
              </a:ext>
            </a:extLst>
          </p:cNvPr>
          <p:cNvSpPr/>
          <p:nvPr/>
        </p:nvSpPr>
        <p:spPr>
          <a:xfrm>
            <a:off x="6382512" y="2615184"/>
            <a:ext cx="100584" cy="100584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8D52B9ED-78CD-FCEC-A4C9-BDD9EC522F83}"/>
              </a:ext>
            </a:extLst>
          </p:cNvPr>
          <p:cNvSpPr/>
          <p:nvPr/>
        </p:nvSpPr>
        <p:spPr>
          <a:xfrm>
            <a:off x="6524244" y="2615184"/>
            <a:ext cx="100584" cy="100584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AF3E22B8-2264-DAB1-7E2D-59A4E8A58653}"/>
              </a:ext>
            </a:extLst>
          </p:cNvPr>
          <p:cNvSpPr/>
          <p:nvPr/>
        </p:nvSpPr>
        <p:spPr>
          <a:xfrm>
            <a:off x="6665976" y="2615184"/>
            <a:ext cx="100584" cy="100584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1188B80-A802-7C9E-BC18-BE138DD22B56}"/>
              </a:ext>
            </a:extLst>
          </p:cNvPr>
          <p:cNvSpPr/>
          <p:nvPr/>
        </p:nvSpPr>
        <p:spPr>
          <a:xfrm>
            <a:off x="6702552" y="2615184"/>
            <a:ext cx="100584" cy="100584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4C893934-54B4-2CF0-2429-11C176586248}"/>
              </a:ext>
            </a:extLst>
          </p:cNvPr>
          <p:cNvSpPr/>
          <p:nvPr/>
        </p:nvSpPr>
        <p:spPr>
          <a:xfrm>
            <a:off x="6844284" y="2615184"/>
            <a:ext cx="100584" cy="100584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C5C1D13D-D084-8CA5-646A-9C0B043190F3}"/>
              </a:ext>
            </a:extLst>
          </p:cNvPr>
          <p:cNvSpPr/>
          <p:nvPr/>
        </p:nvSpPr>
        <p:spPr>
          <a:xfrm>
            <a:off x="6163056" y="3685032"/>
            <a:ext cx="1097280" cy="749808"/>
          </a:xfrm>
          <a:prstGeom prst="roundRect">
            <a:avLst/>
          </a:prstGeom>
          <a:solidFill>
            <a:srgbClr val="FDE9D8"/>
          </a:solidFill>
          <a:ln w="1778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050" b="1">
                <a:solidFill>
                  <a:srgbClr val="A55220"/>
                </a:solidFill>
                <a:latin typeface="Arial"/>
              </a:rPr>
              <a:t>Action</a:t>
            </a:r>
            <a:br/>
            <a:r>
              <a:rPr sz="1050" b="1">
                <a:solidFill>
                  <a:srgbClr val="A55220"/>
                </a:solidFill>
                <a:latin typeface="Arial"/>
              </a:rPr>
              <a:t>Head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B570D66-527D-E154-A357-B70A181011EF}"/>
              </a:ext>
            </a:extLst>
          </p:cNvPr>
          <p:cNvSpPr/>
          <p:nvPr/>
        </p:nvSpPr>
        <p:spPr>
          <a:xfrm>
            <a:off x="6016752" y="4754880"/>
            <a:ext cx="13898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7C9B156C-AECB-8098-EDFD-7EF69036BD37}"/>
              </a:ext>
            </a:extLst>
          </p:cNvPr>
          <p:cNvSpPr/>
          <p:nvPr/>
        </p:nvSpPr>
        <p:spPr>
          <a:xfrm>
            <a:off x="6272784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706BF05-9EB6-1DBD-BA0D-FEAD4BDDAD46}"/>
              </a:ext>
            </a:extLst>
          </p:cNvPr>
          <p:cNvSpPr/>
          <p:nvPr/>
        </p:nvSpPr>
        <p:spPr>
          <a:xfrm>
            <a:off x="6419088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AC118386-EA0E-AE9B-37CB-E3E3E05B8617}"/>
              </a:ext>
            </a:extLst>
          </p:cNvPr>
          <p:cNvSpPr/>
          <p:nvPr/>
        </p:nvSpPr>
        <p:spPr>
          <a:xfrm>
            <a:off x="6565392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8319F0D6-B8D7-22AA-1B81-D96D4349B0D7}"/>
              </a:ext>
            </a:extLst>
          </p:cNvPr>
          <p:cNvSpPr/>
          <p:nvPr/>
        </p:nvSpPr>
        <p:spPr>
          <a:xfrm>
            <a:off x="6711696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A808866-9AEF-0639-3692-FBE7F1EE7AC9}"/>
              </a:ext>
            </a:extLst>
          </p:cNvPr>
          <p:cNvSpPr/>
          <p:nvPr/>
        </p:nvSpPr>
        <p:spPr>
          <a:xfrm>
            <a:off x="6858000" y="4892040"/>
            <a:ext cx="100584" cy="100584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329E3E9-E600-4E1C-94E7-1D9D3A6DC869}"/>
              </a:ext>
            </a:extLst>
          </p:cNvPr>
          <p:cNvSpPr txBox="1"/>
          <p:nvPr/>
        </p:nvSpPr>
        <p:spPr>
          <a:xfrm>
            <a:off x="6217920" y="5212080"/>
            <a:ext cx="100584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740" b="0" i="0">
                <a:solidFill>
                  <a:srgbClr val="647084"/>
                </a:solidFill>
                <a:latin typeface="Arial"/>
              </a:rPr>
              <a:t>action chunk</a:t>
            </a:r>
          </a:p>
        </p:txBody>
      </p:sp>
      <p:cxnSp>
        <p:nvCxnSpPr>
          <p:cNvPr id="65" name="Connector 64">
            <a:extLst>
              <a:ext uri="{FF2B5EF4-FFF2-40B4-BE49-F238E27FC236}">
                <a16:creationId xmlns:a16="http://schemas.microsoft.com/office/drawing/2014/main" id="{2DF6A8D2-4CCC-99D4-A553-C9E830D1455A}"/>
              </a:ext>
            </a:extLst>
          </p:cNvPr>
          <p:cNvCxnSpPr/>
          <p:nvPr/>
        </p:nvCxnSpPr>
        <p:spPr>
          <a:xfrm>
            <a:off x="3072384" y="1965960"/>
            <a:ext cx="621792" cy="0"/>
          </a:xfrm>
          <a:prstGeom prst="line">
            <a:avLst/>
          </a:prstGeom>
          <a:ln w="18415">
            <a:solidFill>
              <a:srgbClr val="25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>
            <a:extLst>
              <a:ext uri="{FF2B5EF4-FFF2-40B4-BE49-F238E27FC236}">
                <a16:creationId xmlns:a16="http://schemas.microsoft.com/office/drawing/2014/main" id="{60C79E6C-1C71-129F-4051-C63112AC89F4}"/>
              </a:ext>
            </a:extLst>
          </p:cNvPr>
          <p:cNvSpPr/>
          <p:nvPr/>
        </p:nvSpPr>
        <p:spPr>
          <a:xfrm rot="5400000">
            <a:off x="3625596" y="1897379"/>
            <a:ext cx="137160" cy="137160"/>
          </a:xfrm>
          <a:prstGeom prst="triangle">
            <a:avLst/>
          </a:prstGeom>
          <a:solidFill>
            <a:srgbClr val="25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66">
            <a:extLst>
              <a:ext uri="{FF2B5EF4-FFF2-40B4-BE49-F238E27FC236}">
                <a16:creationId xmlns:a16="http://schemas.microsoft.com/office/drawing/2014/main" id="{F2611D6A-6AAE-6B4C-17E7-FF97BBBA56FC}"/>
              </a:ext>
            </a:extLst>
          </p:cNvPr>
          <p:cNvCxnSpPr/>
          <p:nvPr/>
        </p:nvCxnSpPr>
        <p:spPr>
          <a:xfrm>
            <a:off x="3008376" y="3474720"/>
            <a:ext cx="301752" cy="0"/>
          </a:xfrm>
          <a:prstGeom prst="line">
            <a:avLst/>
          </a:prstGeom>
          <a:ln w="14604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>
            <a:extLst>
              <a:ext uri="{FF2B5EF4-FFF2-40B4-BE49-F238E27FC236}">
                <a16:creationId xmlns:a16="http://schemas.microsoft.com/office/drawing/2014/main" id="{FA4F74FA-32B3-BAD5-0F61-11C663F0DA95}"/>
              </a:ext>
            </a:extLst>
          </p:cNvPr>
          <p:cNvCxnSpPr/>
          <p:nvPr/>
        </p:nvCxnSpPr>
        <p:spPr>
          <a:xfrm flipV="1">
            <a:off x="3310128" y="2176272"/>
            <a:ext cx="0" cy="1298448"/>
          </a:xfrm>
          <a:prstGeom prst="line">
            <a:avLst/>
          </a:prstGeom>
          <a:ln w="14604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>
            <a:extLst>
              <a:ext uri="{FF2B5EF4-FFF2-40B4-BE49-F238E27FC236}">
                <a16:creationId xmlns:a16="http://schemas.microsoft.com/office/drawing/2014/main" id="{0A5C205E-B79E-D4D3-6666-DD7C07E51902}"/>
              </a:ext>
            </a:extLst>
          </p:cNvPr>
          <p:cNvCxnSpPr/>
          <p:nvPr/>
        </p:nvCxnSpPr>
        <p:spPr>
          <a:xfrm>
            <a:off x="3310128" y="2176272"/>
            <a:ext cx="384048" cy="0"/>
          </a:xfrm>
          <a:prstGeom prst="line">
            <a:avLst/>
          </a:prstGeom>
          <a:ln w="14604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>
            <a:extLst>
              <a:ext uri="{FF2B5EF4-FFF2-40B4-BE49-F238E27FC236}">
                <a16:creationId xmlns:a16="http://schemas.microsoft.com/office/drawing/2014/main" id="{812CADA5-1401-0E63-1E86-2591F29EAE0B}"/>
              </a:ext>
            </a:extLst>
          </p:cNvPr>
          <p:cNvSpPr/>
          <p:nvPr/>
        </p:nvSpPr>
        <p:spPr>
          <a:xfrm rot="5400000">
            <a:off x="3625596" y="2107691"/>
            <a:ext cx="137160" cy="137160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70">
            <a:extLst>
              <a:ext uri="{FF2B5EF4-FFF2-40B4-BE49-F238E27FC236}">
                <a16:creationId xmlns:a16="http://schemas.microsoft.com/office/drawing/2014/main" id="{348321A4-04A2-D5EB-9E4B-607C40ED457B}"/>
              </a:ext>
            </a:extLst>
          </p:cNvPr>
          <p:cNvCxnSpPr/>
          <p:nvPr/>
        </p:nvCxnSpPr>
        <p:spPr>
          <a:xfrm>
            <a:off x="3008376" y="4251960"/>
            <a:ext cx="685800" cy="0"/>
          </a:xfrm>
          <a:prstGeom prst="line">
            <a:avLst/>
          </a:prstGeom>
          <a:ln w="17145">
            <a:solidFill>
              <a:srgbClr val="4E7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>
            <a:extLst>
              <a:ext uri="{FF2B5EF4-FFF2-40B4-BE49-F238E27FC236}">
                <a16:creationId xmlns:a16="http://schemas.microsoft.com/office/drawing/2014/main" id="{2F5B1150-4C06-98E2-6DC2-E22F821193C0}"/>
              </a:ext>
            </a:extLst>
          </p:cNvPr>
          <p:cNvSpPr/>
          <p:nvPr/>
        </p:nvSpPr>
        <p:spPr>
          <a:xfrm rot="5400000">
            <a:off x="3625596" y="4183380"/>
            <a:ext cx="137160" cy="137160"/>
          </a:xfrm>
          <a:prstGeom prst="triangle">
            <a:avLst/>
          </a:prstGeom>
          <a:solidFill>
            <a:srgbClr val="4E7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>
            <a:extLst>
              <a:ext uri="{FF2B5EF4-FFF2-40B4-BE49-F238E27FC236}">
                <a16:creationId xmlns:a16="http://schemas.microsoft.com/office/drawing/2014/main" id="{101BED4B-6E54-6157-3859-F2A6040D5AFA}"/>
              </a:ext>
            </a:extLst>
          </p:cNvPr>
          <p:cNvCxnSpPr/>
          <p:nvPr/>
        </p:nvCxnSpPr>
        <p:spPr>
          <a:xfrm>
            <a:off x="4608576" y="2432304"/>
            <a:ext cx="0" cy="813816"/>
          </a:xfrm>
          <a:prstGeom prst="line">
            <a:avLst/>
          </a:prstGeom>
          <a:ln w="15875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A7538F26-FB41-DE91-1174-FF1CDB6301B7}"/>
              </a:ext>
            </a:extLst>
          </p:cNvPr>
          <p:cNvSpPr/>
          <p:nvPr/>
        </p:nvSpPr>
        <p:spPr>
          <a:xfrm rot="10800000">
            <a:off x="4539996" y="3177539"/>
            <a:ext cx="137160" cy="137160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5" name="Connector 74">
            <a:extLst>
              <a:ext uri="{FF2B5EF4-FFF2-40B4-BE49-F238E27FC236}">
                <a16:creationId xmlns:a16="http://schemas.microsoft.com/office/drawing/2014/main" id="{A62AE79A-0392-848A-B6A4-C2E1CB5E3624}"/>
              </a:ext>
            </a:extLst>
          </p:cNvPr>
          <p:cNvCxnSpPr/>
          <p:nvPr/>
        </p:nvCxnSpPr>
        <p:spPr>
          <a:xfrm>
            <a:off x="5522976" y="1929384"/>
            <a:ext cx="310896" cy="0"/>
          </a:xfrm>
          <a:prstGeom prst="line">
            <a:avLst/>
          </a:prstGeom>
          <a:ln w="1651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>
            <a:extLst>
              <a:ext uri="{FF2B5EF4-FFF2-40B4-BE49-F238E27FC236}">
                <a16:creationId xmlns:a16="http://schemas.microsoft.com/office/drawing/2014/main" id="{C374E517-008D-CFD1-3F10-FCE4DF660F0D}"/>
              </a:ext>
            </a:extLst>
          </p:cNvPr>
          <p:cNvCxnSpPr/>
          <p:nvPr/>
        </p:nvCxnSpPr>
        <p:spPr>
          <a:xfrm>
            <a:off x="5833872" y="1929384"/>
            <a:ext cx="0" cy="576072"/>
          </a:xfrm>
          <a:prstGeom prst="line">
            <a:avLst/>
          </a:prstGeom>
          <a:ln w="1651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>
            <a:extLst>
              <a:ext uri="{FF2B5EF4-FFF2-40B4-BE49-F238E27FC236}">
                <a16:creationId xmlns:a16="http://schemas.microsoft.com/office/drawing/2014/main" id="{0BF6362B-E41D-BB1F-F5C0-FDE0EA8D1A3B}"/>
              </a:ext>
            </a:extLst>
          </p:cNvPr>
          <p:cNvCxnSpPr/>
          <p:nvPr/>
        </p:nvCxnSpPr>
        <p:spPr>
          <a:xfrm>
            <a:off x="5833872" y="2505456"/>
            <a:ext cx="329184" cy="0"/>
          </a:xfrm>
          <a:prstGeom prst="line">
            <a:avLst/>
          </a:prstGeom>
          <a:ln w="16510">
            <a:solidFill>
              <a:srgbClr val="2F5D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ABD2C7BF-DA2C-B61B-2C8A-0C11267C2659}"/>
              </a:ext>
            </a:extLst>
          </p:cNvPr>
          <p:cNvSpPr/>
          <p:nvPr/>
        </p:nvSpPr>
        <p:spPr>
          <a:xfrm rot="5400000">
            <a:off x="6094476" y="2436876"/>
            <a:ext cx="137160" cy="137160"/>
          </a:xfrm>
          <a:prstGeom prst="triangle">
            <a:avLst/>
          </a:prstGeom>
          <a:solidFill>
            <a:srgbClr val="2F5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9" name="Connector 78">
            <a:extLst>
              <a:ext uri="{FF2B5EF4-FFF2-40B4-BE49-F238E27FC236}">
                <a16:creationId xmlns:a16="http://schemas.microsoft.com/office/drawing/2014/main" id="{50EBD1CD-D479-D134-1BC3-4A8C9E3B816B}"/>
              </a:ext>
            </a:extLst>
          </p:cNvPr>
          <p:cNvCxnSpPr/>
          <p:nvPr/>
        </p:nvCxnSpPr>
        <p:spPr>
          <a:xfrm>
            <a:off x="5522976" y="3895344"/>
            <a:ext cx="310896" cy="0"/>
          </a:xfrm>
          <a:prstGeom prst="line">
            <a:avLst/>
          </a:prstGeom>
          <a:ln w="1651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>
            <a:extLst>
              <a:ext uri="{FF2B5EF4-FFF2-40B4-BE49-F238E27FC236}">
                <a16:creationId xmlns:a16="http://schemas.microsoft.com/office/drawing/2014/main" id="{21D09446-06E9-4169-A109-7886628DF31F}"/>
              </a:ext>
            </a:extLst>
          </p:cNvPr>
          <p:cNvCxnSpPr/>
          <p:nvPr/>
        </p:nvCxnSpPr>
        <p:spPr>
          <a:xfrm flipV="1">
            <a:off x="5833872" y="2788920"/>
            <a:ext cx="0" cy="1106424"/>
          </a:xfrm>
          <a:prstGeom prst="line">
            <a:avLst/>
          </a:prstGeom>
          <a:ln w="1651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>
            <a:extLst>
              <a:ext uri="{FF2B5EF4-FFF2-40B4-BE49-F238E27FC236}">
                <a16:creationId xmlns:a16="http://schemas.microsoft.com/office/drawing/2014/main" id="{8919A16A-85EF-1111-C40D-BE53C1C5CB42}"/>
              </a:ext>
            </a:extLst>
          </p:cNvPr>
          <p:cNvCxnSpPr/>
          <p:nvPr/>
        </p:nvCxnSpPr>
        <p:spPr>
          <a:xfrm>
            <a:off x="5833872" y="2788920"/>
            <a:ext cx="329184" cy="0"/>
          </a:xfrm>
          <a:prstGeom prst="line">
            <a:avLst/>
          </a:prstGeom>
          <a:ln w="16510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>
            <a:extLst>
              <a:ext uri="{FF2B5EF4-FFF2-40B4-BE49-F238E27FC236}">
                <a16:creationId xmlns:a16="http://schemas.microsoft.com/office/drawing/2014/main" id="{6D0A5F0C-4CE1-9095-5F0F-7BBEB679DC83}"/>
              </a:ext>
            </a:extLst>
          </p:cNvPr>
          <p:cNvSpPr/>
          <p:nvPr/>
        </p:nvSpPr>
        <p:spPr>
          <a:xfrm rot="5400000">
            <a:off x="6094476" y="2720339"/>
            <a:ext cx="137160" cy="137160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>
            <a:extLst>
              <a:ext uri="{FF2B5EF4-FFF2-40B4-BE49-F238E27FC236}">
                <a16:creationId xmlns:a16="http://schemas.microsoft.com/office/drawing/2014/main" id="{AC96071A-D1F4-E42C-DFF6-36B79B9914C4}"/>
              </a:ext>
            </a:extLst>
          </p:cNvPr>
          <p:cNvCxnSpPr/>
          <p:nvPr/>
        </p:nvCxnSpPr>
        <p:spPr>
          <a:xfrm>
            <a:off x="6711696" y="3063240"/>
            <a:ext cx="0" cy="621792"/>
          </a:xfrm>
          <a:prstGeom prst="line">
            <a:avLst/>
          </a:prstGeom>
          <a:ln w="17145">
            <a:solidFill>
              <a:srgbClr val="25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Isosceles Triangle 83">
            <a:extLst>
              <a:ext uri="{FF2B5EF4-FFF2-40B4-BE49-F238E27FC236}">
                <a16:creationId xmlns:a16="http://schemas.microsoft.com/office/drawing/2014/main" id="{C15D3BF4-20E2-FD7A-8DC5-77B6E1AB8A53}"/>
              </a:ext>
            </a:extLst>
          </p:cNvPr>
          <p:cNvSpPr/>
          <p:nvPr/>
        </p:nvSpPr>
        <p:spPr>
          <a:xfrm rot="10800000">
            <a:off x="6643116" y="3616452"/>
            <a:ext cx="137160" cy="137160"/>
          </a:xfrm>
          <a:prstGeom prst="triangle">
            <a:avLst/>
          </a:prstGeom>
          <a:solidFill>
            <a:srgbClr val="25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5" name="Connector 84">
            <a:extLst>
              <a:ext uri="{FF2B5EF4-FFF2-40B4-BE49-F238E27FC236}">
                <a16:creationId xmlns:a16="http://schemas.microsoft.com/office/drawing/2014/main" id="{FD33E77B-75C2-0135-77D5-17560500E25C}"/>
              </a:ext>
            </a:extLst>
          </p:cNvPr>
          <p:cNvCxnSpPr/>
          <p:nvPr/>
        </p:nvCxnSpPr>
        <p:spPr>
          <a:xfrm>
            <a:off x="6711696" y="4434840"/>
            <a:ext cx="0" cy="320040"/>
          </a:xfrm>
          <a:prstGeom prst="line">
            <a:avLst/>
          </a:prstGeom>
          <a:ln w="15875">
            <a:solidFill>
              <a:srgbClr val="2532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>
            <a:extLst>
              <a:ext uri="{FF2B5EF4-FFF2-40B4-BE49-F238E27FC236}">
                <a16:creationId xmlns:a16="http://schemas.microsoft.com/office/drawing/2014/main" id="{2642F4F0-7B9E-BBDE-CCD0-8CA07EF16297}"/>
              </a:ext>
            </a:extLst>
          </p:cNvPr>
          <p:cNvSpPr/>
          <p:nvPr/>
        </p:nvSpPr>
        <p:spPr>
          <a:xfrm rot="10800000">
            <a:off x="6643116" y="4686300"/>
            <a:ext cx="137160" cy="137160"/>
          </a:xfrm>
          <a:prstGeom prst="triangle">
            <a:avLst/>
          </a:prstGeom>
          <a:solidFill>
            <a:srgbClr val="25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EBF54C7D-EE39-FA4D-DB4A-669CFB37B28B}"/>
              </a:ext>
            </a:extLst>
          </p:cNvPr>
          <p:cNvSpPr/>
          <p:nvPr/>
        </p:nvSpPr>
        <p:spPr>
          <a:xfrm>
            <a:off x="8321040" y="1353312"/>
            <a:ext cx="3255264" cy="2157984"/>
          </a:xfrm>
          <a:prstGeom prst="roundRect">
            <a:avLst/>
          </a:prstGeom>
          <a:solidFill>
            <a:srgbClr val="F4F0FF"/>
          </a:solidFill>
          <a:ln w="1905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ounded Rectangle 87">
            <a:extLst>
              <a:ext uri="{FF2B5EF4-FFF2-40B4-BE49-F238E27FC236}">
                <a16:creationId xmlns:a16="http://schemas.microsoft.com/office/drawing/2014/main" id="{0A9534F6-F394-704E-ECA9-972DEB1B584B}"/>
              </a:ext>
            </a:extLst>
          </p:cNvPr>
          <p:cNvSpPr/>
          <p:nvPr/>
        </p:nvSpPr>
        <p:spPr>
          <a:xfrm>
            <a:off x="8577072" y="1554480"/>
            <a:ext cx="27432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060" b="1">
                <a:solidFill>
                  <a:srgbClr val="6650C7"/>
                </a:solidFill>
                <a:latin typeface="Arial"/>
              </a:rPr>
              <a:t>StateReconstructionOnly 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EC5FEB6-B6CF-314B-0FFA-5428AAF9F13D}"/>
              </a:ext>
            </a:extLst>
          </p:cNvPr>
          <p:cNvSpPr txBox="1"/>
          <p:nvPr/>
        </p:nvSpPr>
        <p:spPr>
          <a:xfrm>
            <a:off x="8668512" y="1993392"/>
            <a:ext cx="2560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860" b="1" i="0">
                <a:solidFill>
                  <a:srgbClr val="172033"/>
                </a:solidFill>
                <a:latin typeface="Arial"/>
              </a:rPr>
              <a:t>reconstruct state from attended visual token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26FFBEC-EBE0-A686-FFD1-611817F2C95F}"/>
              </a:ext>
            </a:extLst>
          </p:cNvPr>
          <p:cNvSpPr/>
          <p:nvPr/>
        </p:nvSpPr>
        <p:spPr>
          <a:xfrm>
            <a:off x="8650224" y="2359152"/>
            <a:ext cx="566928" cy="402336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2FB3ECF0-C4FE-EE20-7485-271923D85274}"/>
              </a:ext>
            </a:extLst>
          </p:cNvPr>
          <p:cNvSpPr/>
          <p:nvPr/>
        </p:nvSpPr>
        <p:spPr>
          <a:xfrm>
            <a:off x="8741664" y="2496312"/>
            <a:ext cx="91440" cy="9144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B4189E3C-1064-8105-338B-F2BCF5990FB1}"/>
              </a:ext>
            </a:extLst>
          </p:cNvPr>
          <p:cNvSpPr/>
          <p:nvPr/>
        </p:nvSpPr>
        <p:spPr>
          <a:xfrm>
            <a:off x="8865108" y="2496312"/>
            <a:ext cx="91440" cy="9144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ounded Rectangle 92">
            <a:extLst>
              <a:ext uri="{FF2B5EF4-FFF2-40B4-BE49-F238E27FC236}">
                <a16:creationId xmlns:a16="http://schemas.microsoft.com/office/drawing/2014/main" id="{666C7726-ED47-F7BB-80C4-CBF117BAB76B}"/>
              </a:ext>
            </a:extLst>
          </p:cNvPr>
          <p:cNvSpPr/>
          <p:nvPr/>
        </p:nvSpPr>
        <p:spPr>
          <a:xfrm>
            <a:off x="8988552" y="2496312"/>
            <a:ext cx="91440" cy="9144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4" name="Connector 93">
            <a:extLst>
              <a:ext uri="{FF2B5EF4-FFF2-40B4-BE49-F238E27FC236}">
                <a16:creationId xmlns:a16="http://schemas.microsoft.com/office/drawing/2014/main" id="{107FD5DC-6015-BCB7-40BF-E966E3E6B5CA}"/>
              </a:ext>
            </a:extLst>
          </p:cNvPr>
          <p:cNvCxnSpPr/>
          <p:nvPr/>
        </p:nvCxnSpPr>
        <p:spPr>
          <a:xfrm>
            <a:off x="9217152" y="2560320"/>
            <a:ext cx="457200" cy="0"/>
          </a:xfrm>
          <a:prstGeom prst="line">
            <a:avLst/>
          </a:prstGeom>
          <a:ln w="15875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>
            <a:extLst>
              <a:ext uri="{FF2B5EF4-FFF2-40B4-BE49-F238E27FC236}">
                <a16:creationId xmlns:a16="http://schemas.microsoft.com/office/drawing/2014/main" id="{433AC2D9-D8EE-6C5A-9972-77E74B4D86B5}"/>
              </a:ext>
            </a:extLst>
          </p:cNvPr>
          <p:cNvSpPr/>
          <p:nvPr/>
        </p:nvSpPr>
        <p:spPr>
          <a:xfrm rot="5400000">
            <a:off x="9605772" y="2491739"/>
            <a:ext cx="137160" cy="137160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FAA6E0AA-23FE-05EA-2137-B5A28E43FDE1}"/>
              </a:ext>
            </a:extLst>
          </p:cNvPr>
          <p:cNvSpPr/>
          <p:nvPr/>
        </p:nvSpPr>
        <p:spPr>
          <a:xfrm>
            <a:off x="9674352" y="2267712"/>
            <a:ext cx="713232" cy="58521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860" b="1">
                <a:solidFill>
                  <a:srgbClr val="6650C7"/>
                </a:solidFill>
                <a:latin typeface="Arial"/>
              </a:rPr>
              <a:t>State</a:t>
            </a:r>
            <a:br/>
            <a:r>
              <a:rPr sz="860" b="1">
                <a:solidFill>
                  <a:srgbClr val="6650C7"/>
                </a:solidFill>
                <a:latin typeface="Arial"/>
              </a:rPr>
              <a:t>Decoder</a:t>
            </a:r>
          </a:p>
        </p:txBody>
      </p:sp>
      <p:cxnSp>
        <p:nvCxnSpPr>
          <p:cNvPr id="97" name="Connector 96">
            <a:extLst>
              <a:ext uri="{FF2B5EF4-FFF2-40B4-BE49-F238E27FC236}">
                <a16:creationId xmlns:a16="http://schemas.microsoft.com/office/drawing/2014/main" id="{386342F3-12E7-8F9E-7069-815900321AF2}"/>
              </a:ext>
            </a:extLst>
          </p:cNvPr>
          <p:cNvCxnSpPr/>
          <p:nvPr/>
        </p:nvCxnSpPr>
        <p:spPr>
          <a:xfrm>
            <a:off x="10387584" y="2560320"/>
            <a:ext cx="457200" cy="0"/>
          </a:xfrm>
          <a:prstGeom prst="line">
            <a:avLst/>
          </a:prstGeom>
          <a:ln w="15875">
            <a:solidFill>
              <a:srgbClr val="6650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Isosceles Triangle 97">
            <a:extLst>
              <a:ext uri="{FF2B5EF4-FFF2-40B4-BE49-F238E27FC236}">
                <a16:creationId xmlns:a16="http://schemas.microsoft.com/office/drawing/2014/main" id="{3ABA1E5A-834C-540D-D4EC-F2860ED15E0A}"/>
              </a:ext>
            </a:extLst>
          </p:cNvPr>
          <p:cNvSpPr/>
          <p:nvPr/>
        </p:nvSpPr>
        <p:spPr>
          <a:xfrm rot="5400000">
            <a:off x="10776204" y="2491739"/>
            <a:ext cx="137160" cy="137160"/>
          </a:xfrm>
          <a:prstGeom prst="triangle">
            <a:avLst/>
          </a:prstGeom>
          <a:solidFill>
            <a:srgbClr val="6650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ED1CDFB1-01C6-1070-D66E-ED976D4CCF2C}"/>
              </a:ext>
            </a:extLst>
          </p:cNvPr>
          <p:cNvSpPr/>
          <p:nvPr/>
        </p:nvSpPr>
        <p:spPr>
          <a:xfrm>
            <a:off x="10844784" y="2359152"/>
            <a:ext cx="438912" cy="402336"/>
          </a:xfrm>
          <a:prstGeom prst="roundRect">
            <a:avLst/>
          </a:prstGeom>
          <a:solidFill>
            <a:srgbClr val="EFF8EB"/>
          </a:solidFill>
          <a:ln w="1270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908D3F46-288B-59FA-6955-162837A18DA8}"/>
              </a:ext>
            </a:extLst>
          </p:cNvPr>
          <p:cNvSpPr/>
          <p:nvPr/>
        </p:nvSpPr>
        <p:spPr>
          <a:xfrm>
            <a:off x="10917936" y="2496312"/>
            <a:ext cx="91440" cy="9144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1E0FE42-EF4A-09F5-10ED-539AB406FB7F}"/>
              </a:ext>
            </a:extLst>
          </p:cNvPr>
          <p:cNvSpPr/>
          <p:nvPr/>
        </p:nvSpPr>
        <p:spPr>
          <a:xfrm>
            <a:off x="11041380" y="2496312"/>
            <a:ext cx="91440" cy="9144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847BB772-0C50-EB94-798F-085CF8FF93CF}"/>
              </a:ext>
            </a:extLst>
          </p:cNvPr>
          <p:cNvSpPr/>
          <p:nvPr/>
        </p:nvSpPr>
        <p:spPr>
          <a:xfrm>
            <a:off x="9564624" y="2999232"/>
            <a:ext cx="914400" cy="274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800" b="1">
                <a:solidFill>
                  <a:srgbClr val="6650C7"/>
                </a:solidFill>
                <a:latin typeface="Arial"/>
              </a:rPr>
              <a:t>state loss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5FC561D-F1F4-2587-68C4-06A9B6820285}"/>
              </a:ext>
            </a:extLst>
          </p:cNvPr>
          <p:cNvSpPr txBox="1"/>
          <p:nvPr/>
        </p:nvSpPr>
        <p:spPr>
          <a:xfrm>
            <a:off x="8641080" y="3072384"/>
            <a:ext cx="841248" cy="128016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700" b="0" i="0">
                <a:solidFill>
                  <a:srgbClr val="647084"/>
                </a:solidFill>
                <a:latin typeface="Arial"/>
              </a:rPr>
              <a:t>KL off</a:t>
            </a:r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9F6732A1-8829-1341-9063-FD1217D3FC84}"/>
              </a:ext>
            </a:extLst>
          </p:cNvPr>
          <p:cNvSpPr/>
          <p:nvPr/>
        </p:nvSpPr>
        <p:spPr>
          <a:xfrm>
            <a:off x="8321040" y="3803904"/>
            <a:ext cx="3255264" cy="2157984"/>
          </a:xfrm>
          <a:prstGeom prst="roundRect">
            <a:avLst/>
          </a:prstGeom>
          <a:solidFill>
            <a:srgbClr val="FFF5DF"/>
          </a:solidFill>
          <a:ln w="1905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F2042051-204C-6313-4E0A-FC46059AD3B5}"/>
              </a:ext>
            </a:extLst>
          </p:cNvPr>
          <p:cNvSpPr/>
          <p:nvPr/>
        </p:nvSpPr>
        <p:spPr>
          <a:xfrm>
            <a:off x="8577072" y="4005072"/>
            <a:ext cx="274320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019" b="1">
                <a:solidFill>
                  <a:srgbClr val="A46A00"/>
                </a:solidFill>
                <a:latin typeface="Arial"/>
              </a:rPr>
              <a:t>normalized KL Loss Only 500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EDFDC84-76F4-7F77-73E6-6CC29A7CE516}"/>
              </a:ext>
            </a:extLst>
          </p:cNvPr>
          <p:cNvSpPr txBox="1"/>
          <p:nvPr/>
        </p:nvSpPr>
        <p:spPr>
          <a:xfrm>
            <a:off x="8668512" y="4443984"/>
            <a:ext cx="2560320" cy="164592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860" b="1" i="0">
                <a:solidFill>
                  <a:srgbClr val="172033"/>
                </a:solidFill>
                <a:latin typeface="Arial"/>
              </a:rPr>
              <a:t>match mined heatmap with attention tokens</a:t>
            </a:r>
          </a:p>
        </p:txBody>
      </p:sp>
      <p:pic>
        <p:nvPicPr>
          <p:cNvPr id="107" name="Picture 106" descr="propriovla_robot_observation_heatmap_rounded.png">
            <a:extLst>
              <a:ext uri="{FF2B5EF4-FFF2-40B4-BE49-F238E27FC236}">
                <a16:creationId xmlns:a16="http://schemas.microsoft.com/office/drawing/2014/main" id="{2EDF36AD-F0AC-99CD-263A-4C7C14E5D3F7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577072" y="4718304"/>
            <a:ext cx="841248" cy="502920"/>
          </a:xfrm>
          <a:prstGeom prst="rect">
            <a:avLst/>
          </a:prstGeom>
        </p:spPr>
      </p:pic>
      <p:cxnSp>
        <p:nvCxnSpPr>
          <p:cNvPr id="108" name="Connector 107">
            <a:extLst>
              <a:ext uri="{FF2B5EF4-FFF2-40B4-BE49-F238E27FC236}">
                <a16:creationId xmlns:a16="http://schemas.microsoft.com/office/drawing/2014/main" id="{A53B5AD1-7A7A-D8F2-AD96-9658CF3DEBDF}"/>
              </a:ext>
            </a:extLst>
          </p:cNvPr>
          <p:cNvCxnSpPr/>
          <p:nvPr/>
        </p:nvCxnSpPr>
        <p:spPr>
          <a:xfrm>
            <a:off x="9445752" y="4974336"/>
            <a:ext cx="448056" cy="0"/>
          </a:xfrm>
          <a:prstGeom prst="line">
            <a:avLst/>
          </a:prstGeom>
          <a:ln w="15240">
            <a:solidFill>
              <a:srgbClr val="A4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Isosceles Triangle 108">
            <a:extLst>
              <a:ext uri="{FF2B5EF4-FFF2-40B4-BE49-F238E27FC236}">
                <a16:creationId xmlns:a16="http://schemas.microsoft.com/office/drawing/2014/main" id="{334442EF-A81A-88D7-B4D7-53F272C24923}"/>
              </a:ext>
            </a:extLst>
          </p:cNvPr>
          <p:cNvSpPr/>
          <p:nvPr/>
        </p:nvSpPr>
        <p:spPr>
          <a:xfrm rot="5400000">
            <a:off x="9825228" y="4905756"/>
            <a:ext cx="137160" cy="137160"/>
          </a:xfrm>
          <a:prstGeom prst="triangle">
            <a:avLst/>
          </a:prstGeom>
          <a:solidFill>
            <a:srgbClr val="A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6F276DE7-B00E-ED5A-8AFF-A6D0EE2139D2}"/>
              </a:ext>
            </a:extLst>
          </p:cNvPr>
          <p:cNvSpPr/>
          <p:nvPr/>
        </p:nvSpPr>
        <p:spPr>
          <a:xfrm>
            <a:off x="9902952" y="4736592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ounded Rectangle 110">
            <a:extLst>
              <a:ext uri="{FF2B5EF4-FFF2-40B4-BE49-F238E27FC236}">
                <a16:creationId xmlns:a16="http://schemas.microsoft.com/office/drawing/2014/main" id="{C22731A2-2DB3-72FC-1869-CAE552EED6B7}"/>
              </a:ext>
            </a:extLst>
          </p:cNvPr>
          <p:cNvSpPr/>
          <p:nvPr/>
        </p:nvSpPr>
        <p:spPr>
          <a:xfrm>
            <a:off x="10030968" y="4736592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1B1DC94C-34E8-D2DB-0999-F781833116C9}"/>
              </a:ext>
            </a:extLst>
          </p:cNvPr>
          <p:cNvSpPr/>
          <p:nvPr/>
        </p:nvSpPr>
        <p:spPr>
          <a:xfrm>
            <a:off x="10158984" y="4736592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AECBB1BF-4B3A-246C-07E6-5A5AF949EF32}"/>
              </a:ext>
            </a:extLst>
          </p:cNvPr>
          <p:cNvSpPr/>
          <p:nvPr/>
        </p:nvSpPr>
        <p:spPr>
          <a:xfrm>
            <a:off x="9902952" y="4864607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FC5147AC-5C58-B56D-D561-C73656568FB9}"/>
              </a:ext>
            </a:extLst>
          </p:cNvPr>
          <p:cNvSpPr/>
          <p:nvPr/>
        </p:nvSpPr>
        <p:spPr>
          <a:xfrm>
            <a:off x="10030968" y="4864607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ounded Rectangle 114">
            <a:extLst>
              <a:ext uri="{FF2B5EF4-FFF2-40B4-BE49-F238E27FC236}">
                <a16:creationId xmlns:a16="http://schemas.microsoft.com/office/drawing/2014/main" id="{557CC5B9-F97F-32A0-4482-63D1FEFCBEF0}"/>
              </a:ext>
            </a:extLst>
          </p:cNvPr>
          <p:cNvSpPr/>
          <p:nvPr/>
        </p:nvSpPr>
        <p:spPr>
          <a:xfrm>
            <a:off x="10158984" y="4864607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CD596F8F-4484-9173-7844-2539C4B2EBFB}"/>
              </a:ext>
            </a:extLst>
          </p:cNvPr>
          <p:cNvSpPr/>
          <p:nvPr/>
        </p:nvSpPr>
        <p:spPr>
          <a:xfrm>
            <a:off x="9902952" y="4992624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ounded Rectangle 116">
            <a:extLst>
              <a:ext uri="{FF2B5EF4-FFF2-40B4-BE49-F238E27FC236}">
                <a16:creationId xmlns:a16="http://schemas.microsoft.com/office/drawing/2014/main" id="{09A0257F-D680-1F76-7658-BFDB26021EB7}"/>
              </a:ext>
            </a:extLst>
          </p:cNvPr>
          <p:cNvSpPr/>
          <p:nvPr/>
        </p:nvSpPr>
        <p:spPr>
          <a:xfrm>
            <a:off x="10030968" y="4992624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ounded Rectangle 117">
            <a:extLst>
              <a:ext uri="{FF2B5EF4-FFF2-40B4-BE49-F238E27FC236}">
                <a16:creationId xmlns:a16="http://schemas.microsoft.com/office/drawing/2014/main" id="{D8759E02-6257-1DEC-0A2E-3EB356315706}"/>
              </a:ext>
            </a:extLst>
          </p:cNvPr>
          <p:cNvSpPr/>
          <p:nvPr/>
        </p:nvSpPr>
        <p:spPr>
          <a:xfrm>
            <a:off x="10158984" y="4992624"/>
            <a:ext cx="96012" cy="96012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" name="Connector 118">
            <a:extLst>
              <a:ext uri="{FF2B5EF4-FFF2-40B4-BE49-F238E27FC236}">
                <a16:creationId xmlns:a16="http://schemas.microsoft.com/office/drawing/2014/main" id="{8F8EA5FB-5BD6-21EA-6258-DC8488DC168E}"/>
              </a:ext>
            </a:extLst>
          </p:cNvPr>
          <p:cNvCxnSpPr/>
          <p:nvPr/>
        </p:nvCxnSpPr>
        <p:spPr>
          <a:xfrm>
            <a:off x="10378440" y="4974336"/>
            <a:ext cx="429768" cy="0"/>
          </a:xfrm>
          <a:prstGeom prst="line">
            <a:avLst/>
          </a:prstGeom>
          <a:ln w="15240">
            <a:solidFill>
              <a:srgbClr val="A4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>
            <a:extLst>
              <a:ext uri="{FF2B5EF4-FFF2-40B4-BE49-F238E27FC236}">
                <a16:creationId xmlns:a16="http://schemas.microsoft.com/office/drawing/2014/main" id="{A7FF5798-6EAA-BE3A-C7DF-43A0852E9CF1}"/>
              </a:ext>
            </a:extLst>
          </p:cNvPr>
          <p:cNvSpPr/>
          <p:nvPr/>
        </p:nvSpPr>
        <p:spPr>
          <a:xfrm rot="5400000">
            <a:off x="10739628" y="4905756"/>
            <a:ext cx="137160" cy="137160"/>
          </a:xfrm>
          <a:prstGeom prst="triangle">
            <a:avLst/>
          </a:prstGeom>
          <a:solidFill>
            <a:srgbClr val="A4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1BB49F07-5DB1-BAF1-2F89-12E459B4CBA4}"/>
              </a:ext>
            </a:extLst>
          </p:cNvPr>
          <p:cNvSpPr/>
          <p:nvPr/>
        </p:nvSpPr>
        <p:spPr>
          <a:xfrm>
            <a:off x="10808208" y="4736592"/>
            <a:ext cx="512064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830" b="1">
                <a:solidFill>
                  <a:srgbClr val="A46A00"/>
                </a:solidFill>
                <a:latin typeface="Arial"/>
              </a:rPr>
              <a:t>norm.</a:t>
            </a:r>
            <a:br/>
            <a:r>
              <a:rPr sz="830" b="1">
                <a:solidFill>
                  <a:srgbClr val="A46A00"/>
                </a:solidFill>
                <a:latin typeface="Arial"/>
              </a:rPr>
              <a:t>KL</a:t>
            </a: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4A197727-EE74-0DB0-81A6-59AFE39E3945}"/>
              </a:ext>
            </a:extLst>
          </p:cNvPr>
          <p:cNvSpPr/>
          <p:nvPr/>
        </p:nvSpPr>
        <p:spPr>
          <a:xfrm>
            <a:off x="9674352" y="5522976"/>
            <a:ext cx="1335024" cy="256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FA4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750" b="1">
                <a:solidFill>
                  <a:srgbClr val="A46A00"/>
                </a:solidFill>
                <a:latin typeface="Arial"/>
              </a:rPr>
              <a:t>normalized KL loss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BAABF1E-6E41-2DAC-797C-6C52A350D8A9}"/>
              </a:ext>
            </a:extLst>
          </p:cNvPr>
          <p:cNvSpPr txBox="1"/>
          <p:nvPr/>
        </p:nvSpPr>
        <p:spPr>
          <a:xfrm>
            <a:off x="8641080" y="5596128"/>
            <a:ext cx="868680" cy="128016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ctr"/>
            <a:r>
              <a:rPr sz="700" b="0" i="0">
                <a:solidFill>
                  <a:srgbClr val="647084"/>
                </a:solidFill>
                <a:latin typeface="Arial"/>
              </a:rPr>
              <a:t>recon off</a:t>
            </a:r>
          </a:p>
        </p:txBody>
      </p:sp>
      <p:sp>
        <p:nvSpPr>
          <p:cNvPr id="124" name="Rounded Rectangle 123">
            <a:extLst>
              <a:ext uri="{FF2B5EF4-FFF2-40B4-BE49-F238E27FC236}">
                <a16:creationId xmlns:a16="http://schemas.microsoft.com/office/drawing/2014/main" id="{8922077C-46B4-B30A-057A-C99675A811E2}"/>
              </a:ext>
            </a:extLst>
          </p:cNvPr>
          <p:cNvSpPr/>
          <p:nvPr/>
        </p:nvSpPr>
        <p:spPr>
          <a:xfrm>
            <a:off x="694944" y="6382512"/>
            <a:ext cx="10899648" cy="310896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D9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D9D2E2E9-1C54-AE5A-F493-E1BDCC3B4550}"/>
              </a:ext>
            </a:extLst>
          </p:cNvPr>
          <p:cNvSpPr/>
          <p:nvPr/>
        </p:nvSpPr>
        <p:spPr>
          <a:xfrm>
            <a:off x="932688" y="6496812"/>
            <a:ext cx="68580" cy="6858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F7400A12-3EDF-9F26-1E69-74B49882A1DC}"/>
              </a:ext>
            </a:extLst>
          </p:cNvPr>
          <p:cNvSpPr/>
          <p:nvPr/>
        </p:nvSpPr>
        <p:spPr>
          <a:xfrm>
            <a:off x="1024128" y="6496812"/>
            <a:ext cx="68580" cy="6858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DCC94107-B479-DEE2-FE1F-401450D2C3D6}"/>
              </a:ext>
            </a:extLst>
          </p:cNvPr>
          <p:cNvSpPr/>
          <p:nvPr/>
        </p:nvSpPr>
        <p:spPr>
          <a:xfrm>
            <a:off x="1115568" y="6496812"/>
            <a:ext cx="68580" cy="68580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9D51E97-ADF0-C566-F66D-87B09DD3F83C}"/>
              </a:ext>
            </a:extLst>
          </p:cNvPr>
          <p:cNvSpPr txBox="1"/>
          <p:nvPr/>
        </p:nvSpPr>
        <p:spPr>
          <a:xfrm>
            <a:off x="1207008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l"/>
            <a:r>
              <a:rPr sz="680" b="1" i="0">
                <a:solidFill>
                  <a:srgbClr val="2F5D9E"/>
                </a:solidFill>
                <a:latin typeface="Arial"/>
              </a:rPr>
              <a:t>visual-language tokens</a:t>
            </a:r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FA5F51E5-FF7F-F859-D049-E66B146551C5}"/>
              </a:ext>
            </a:extLst>
          </p:cNvPr>
          <p:cNvSpPr/>
          <p:nvPr/>
        </p:nvSpPr>
        <p:spPr>
          <a:xfrm>
            <a:off x="2907792" y="6496812"/>
            <a:ext cx="68580" cy="6858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545378C3-338F-E0C5-D500-75D3769D77A8}"/>
              </a:ext>
            </a:extLst>
          </p:cNvPr>
          <p:cNvSpPr/>
          <p:nvPr/>
        </p:nvSpPr>
        <p:spPr>
          <a:xfrm>
            <a:off x="2999232" y="6496812"/>
            <a:ext cx="68580" cy="6858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B5002D38-4ECB-284C-23D3-13FCE422F462}"/>
              </a:ext>
            </a:extLst>
          </p:cNvPr>
          <p:cNvSpPr/>
          <p:nvPr/>
        </p:nvSpPr>
        <p:spPr>
          <a:xfrm>
            <a:off x="3090672" y="6496812"/>
            <a:ext cx="68580" cy="68580"/>
          </a:xfrm>
          <a:prstGeom prst="roundRect">
            <a:avLst/>
          </a:prstGeom>
          <a:solidFill>
            <a:srgbClr val="EFF8EB"/>
          </a:solidFill>
          <a:ln w="11430">
            <a:solidFill>
              <a:srgbClr val="78A9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DC9AAE8-1BDC-7ED5-75A4-954D9E846EFD}"/>
              </a:ext>
            </a:extLst>
          </p:cNvPr>
          <p:cNvSpPr txBox="1"/>
          <p:nvPr/>
        </p:nvSpPr>
        <p:spPr>
          <a:xfrm>
            <a:off x="3182112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 fontScale="55000" lnSpcReduction="20000"/>
          </a:bodyPr>
          <a:lstStyle/>
          <a:p>
            <a:pPr algn="l"/>
            <a:endParaRPr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7D8C87E6-92C9-5AC0-7F19-D030E09C430F}"/>
              </a:ext>
            </a:extLst>
          </p:cNvPr>
          <p:cNvSpPr/>
          <p:nvPr/>
        </p:nvSpPr>
        <p:spPr>
          <a:xfrm>
            <a:off x="4681728" y="6496812"/>
            <a:ext cx="68580" cy="6858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D340BF67-30C4-D2B1-BFF3-FB5246226BAF}"/>
              </a:ext>
            </a:extLst>
          </p:cNvPr>
          <p:cNvSpPr/>
          <p:nvPr/>
        </p:nvSpPr>
        <p:spPr>
          <a:xfrm>
            <a:off x="4773168" y="6496812"/>
            <a:ext cx="68580" cy="6858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A2592066-C328-F0B8-0C63-941BD380D2DF}"/>
              </a:ext>
            </a:extLst>
          </p:cNvPr>
          <p:cNvSpPr/>
          <p:nvPr/>
        </p:nvSpPr>
        <p:spPr>
          <a:xfrm>
            <a:off x="4864608" y="6496812"/>
            <a:ext cx="68580" cy="68580"/>
          </a:xfrm>
          <a:prstGeom prst="roundRect">
            <a:avLst/>
          </a:prstGeom>
          <a:solidFill>
            <a:srgbClr val="F4F0FF"/>
          </a:solidFill>
          <a:ln w="11430">
            <a:solidFill>
              <a:srgbClr val="AE9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F70DC58A-C888-D463-ABD6-D5676B4A3F42}"/>
              </a:ext>
            </a:extLst>
          </p:cNvPr>
          <p:cNvSpPr txBox="1"/>
          <p:nvPr/>
        </p:nvSpPr>
        <p:spPr>
          <a:xfrm>
            <a:off x="4956048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l"/>
            <a:r>
              <a:rPr sz="680" b="1" i="0">
                <a:solidFill>
                  <a:srgbClr val="6650C7"/>
                </a:solidFill>
                <a:latin typeface="Arial"/>
              </a:rPr>
              <a:t>self-grounded visual tokens</a:t>
            </a:r>
          </a:p>
        </p:txBody>
      </p:sp>
      <p:sp>
        <p:nvSpPr>
          <p:cNvPr id="137" name="Rounded Rectangle 136">
            <a:extLst>
              <a:ext uri="{FF2B5EF4-FFF2-40B4-BE49-F238E27FC236}">
                <a16:creationId xmlns:a16="http://schemas.microsoft.com/office/drawing/2014/main" id="{363B7B0F-63DE-FE19-DCDD-7818D94C596C}"/>
              </a:ext>
            </a:extLst>
          </p:cNvPr>
          <p:cNvSpPr/>
          <p:nvPr/>
        </p:nvSpPr>
        <p:spPr>
          <a:xfrm>
            <a:off x="7059168" y="6496812"/>
            <a:ext cx="68580" cy="68580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ounded Rectangle 137">
            <a:extLst>
              <a:ext uri="{FF2B5EF4-FFF2-40B4-BE49-F238E27FC236}">
                <a16:creationId xmlns:a16="http://schemas.microsoft.com/office/drawing/2014/main" id="{F1B3FE7A-4F5C-6A1C-027F-535507B1B49E}"/>
              </a:ext>
            </a:extLst>
          </p:cNvPr>
          <p:cNvSpPr/>
          <p:nvPr/>
        </p:nvSpPr>
        <p:spPr>
          <a:xfrm>
            <a:off x="7150607" y="6496812"/>
            <a:ext cx="68580" cy="68580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CD3B9294-F4C3-9EF5-3FD8-DA80CC1713F6}"/>
              </a:ext>
            </a:extLst>
          </p:cNvPr>
          <p:cNvSpPr/>
          <p:nvPr/>
        </p:nvSpPr>
        <p:spPr>
          <a:xfrm>
            <a:off x="7242048" y="6496812"/>
            <a:ext cx="68580" cy="68580"/>
          </a:xfrm>
          <a:prstGeom prst="roundRect">
            <a:avLst/>
          </a:prstGeom>
          <a:solidFill>
            <a:srgbClr val="FDE9D8"/>
          </a:solidFill>
          <a:ln w="1143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FEFFB14-F0D7-8E9F-9AA6-F7EC7990FC0D}"/>
              </a:ext>
            </a:extLst>
          </p:cNvPr>
          <p:cNvSpPr txBox="1"/>
          <p:nvPr/>
        </p:nvSpPr>
        <p:spPr>
          <a:xfrm>
            <a:off x="7333488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l"/>
            <a:r>
              <a:rPr sz="680" b="1" i="0">
                <a:solidFill>
                  <a:srgbClr val="A55220"/>
                </a:solidFill>
                <a:latin typeface="Arial"/>
              </a:rPr>
              <a:t>attention tokens</a:t>
            </a:r>
          </a:p>
        </p:txBody>
      </p:sp>
      <p:sp>
        <p:nvSpPr>
          <p:cNvPr id="141" name="Rounded Rectangle 140">
            <a:extLst>
              <a:ext uri="{FF2B5EF4-FFF2-40B4-BE49-F238E27FC236}">
                <a16:creationId xmlns:a16="http://schemas.microsoft.com/office/drawing/2014/main" id="{BC77D25E-B1B3-9528-317D-428C8E643C50}"/>
              </a:ext>
            </a:extLst>
          </p:cNvPr>
          <p:cNvSpPr/>
          <p:nvPr/>
        </p:nvSpPr>
        <p:spPr>
          <a:xfrm>
            <a:off x="8887968" y="6496812"/>
            <a:ext cx="68580" cy="68580"/>
          </a:xfrm>
          <a:prstGeom prst="roundRect">
            <a:avLst/>
          </a:prstGeom>
          <a:solidFill>
            <a:srgbClr val="FFF0F2"/>
          </a:solidFill>
          <a:ln w="11430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ounded Rectangle 141">
            <a:extLst>
              <a:ext uri="{FF2B5EF4-FFF2-40B4-BE49-F238E27FC236}">
                <a16:creationId xmlns:a16="http://schemas.microsoft.com/office/drawing/2014/main" id="{C7B54642-1F21-14F6-029F-95E22B18D74D}"/>
              </a:ext>
            </a:extLst>
          </p:cNvPr>
          <p:cNvSpPr/>
          <p:nvPr/>
        </p:nvSpPr>
        <p:spPr>
          <a:xfrm>
            <a:off x="8979408" y="6496812"/>
            <a:ext cx="68580" cy="68580"/>
          </a:xfrm>
          <a:prstGeom prst="roundRect">
            <a:avLst/>
          </a:prstGeom>
          <a:solidFill>
            <a:srgbClr val="FFF0F2"/>
          </a:solidFill>
          <a:ln w="11430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ounded Rectangle 142">
            <a:extLst>
              <a:ext uri="{FF2B5EF4-FFF2-40B4-BE49-F238E27FC236}">
                <a16:creationId xmlns:a16="http://schemas.microsoft.com/office/drawing/2014/main" id="{5D5155CE-937A-6E68-24BA-264A2848E6DD}"/>
              </a:ext>
            </a:extLst>
          </p:cNvPr>
          <p:cNvSpPr/>
          <p:nvPr/>
        </p:nvSpPr>
        <p:spPr>
          <a:xfrm>
            <a:off x="9070848" y="6496812"/>
            <a:ext cx="68580" cy="68580"/>
          </a:xfrm>
          <a:prstGeom prst="roundRect">
            <a:avLst/>
          </a:prstGeom>
          <a:solidFill>
            <a:srgbClr val="FFF0F2"/>
          </a:solidFill>
          <a:ln w="11430">
            <a:solidFill>
              <a:srgbClr val="DF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EAFB566-5069-BCF9-4D59-5A7C895B0093}"/>
              </a:ext>
            </a:extLst>
          </p:cNvPr>
          <p:cNvSpPr txBox="1"/>
          <p:nvPr/>
        </p:nvSpPr>
        <p:spPr>
          <a:xfrm>
            <a:off x="9162288" y="6451092"/>
            <a:ext cx="1508760" cy="137160"/>
          </a:xfrm>
          <a:prstGeom prst="rect">
            <a:avLst/>
          </a:prstGeom>
          <a:noFill/>
        </p:spPr>
        <p:txBody>
          <a:bodyPr wrap="square" lIns="27432" tIns="0" rIns="27432" bIns="0" anchor="ctr">
            <a:normAutofit/>
          </a:bodyPr>
          <a:lstStyle/>
          <a:p>
            <a:pPr algn="l"/>
            <a:r>
              <a:rPr sz="680" b="1" i="0">
                <a:solidFill>
                  <a:srgbClr val="BD3B4A"/>
                </a:solidFill>
                <a:latin typeface="Arial"/>
              </a:rPr>
              <a:t>mined heatmap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52C1A35-C83B-DDAE-BAD9-DC37D2810F8A}"/>
              </a:ext>
            </a:extLst>
          </p:cNvPr>
          <p:cNvSpPr txBox="1"/>
          <p:nvPr/>
        </p:nvSpPr>
        <p:spPr>
          <a:xfrm>
            <a:off x="3182112" y="6451092"/>
            <a:ext cx="1097280" cy="13716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l"/>
            <a:r>
              <a:rPr sz="680" b="1">
                <a:solidFill>
                  <a:srgbClr val="4E7B37"/>
                </a:solidFill>
                <a:latin typeface="Arial"/>
              </a:rPr>
              <a:t>state tokens</a:t>
            </a:r>
          </a:p>
        </p:txBody>
      </p:sp>
    </p:spTree>
    <p:extLst>
      <p:ext uri="{BB962C8B-B14F-4D97-AF65-F5344CB8AC3E}">
        <p14:creationId xmlns:p14="http://schemas.microsoft.com/office/powerpoint/2010/main" val="39596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38CD9-D0E6-B6AE-E079-8E4315E9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25">
            <a:extLst>
              <a:ext uri="{FF2B5EF4-FFF2-40B4-BE49-F238E27FC236}">
                <a16:creationId xmlns:a16="http://schemas.microsoft.com/office/drawing/2014/main" id="{406B1DB9-A739-680B-BAD0-BAE962CAEC17}"/>
              </a:ext>
            </a:extLst>
          </p:cNvPr>
          <p:cNvSpPr/>
          <p:nvPr/>
        </p:nvSpPr>
        <p:spPr>
          <a:xfrm>
            <a:off x="908302" y="1272582"/>
            <a:ext cx="1828800" cy="100584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VLM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6" name="Rounded Rectangle 56">
            <a:extLst>
              <a:ext uri="{FF2B5EF4-FFF2-40B4-BE49-F238E27FC236}">
                <a16:creationId xmlns:a16="http://schemas.microsoft.com/office/drawing/2014/main" id="{9A4B554A-7017-E500-6847-9F5F00CBF93C}"/>
              </a:ext>
            </a:extLst>
          </p:cNvPr>
          <p:cNvSpPr/>
          <p:nvPr/>
        </p:nvSpPr>
        <p:spPr>
          <a:xfrm>
            <a:off x="949450" y="3699632"/>
            <a:ext cx="1828800" cy="749808"/>
          </a:xfrm>
          <a:prstGeom prst="roundRect">
            <a:avLst/>
          </a:prstGeom>
          <a:solidFill>
            <a:srgbClr val="FDE9D8"/>
          </a:solidFill>
          <a:ln w="1778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050" b="1">
                <a:solidFill>
                  <a:srgbClr val="A55220"/>
                </a:solidFill>
                <a:latin typeface="Arial"/>
              </a:rPr>
              <a:t>Action</a:t>
            </a:r>
            <a:br/>
            <a:r>
              <a:rPr sz="1050" b="1">
                <a:solidFill>
                  <a:srgbClr val="A55220"/>
                </a:solidFill>
                <a:latin typeface="Arial"/>
              </a:rPr>
              <a:t>Head</a:t>
            </a:r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17B95D2C-4540-B479-6E23-A08658D8CA02}"/>
              </a:ext>
            </a:extLst>
          </p:cNvPr>
          <p:cNvGrpSpPr/>
          <p:nvPr/>
        </p:nvGrpSpPr>
        <p:grpSpPr>
          <a:xfrm rot="5400000">
            <a:off x="1509520" y="3107557"/>
            <a:ext cx="690372" cy="137160"/>
            <a:chOff x="3072384" y="1897379"/>
            <a:chExt cx="690372" cy="137160"/>
          </a:xfrm>
        </p:grpSpPr>
        <p:cxnSp>
          <p:nvCxnSpPr>
            <p:cNvPr id="153" name="Connector 64">
              <a:extLst>
                <a:ext uri="{FF2B5EF4-FFF2-40B4-BE49-F238E27FC236}">
                  <a16:creationId xmlns:a16="http://schemas.microsoft.com/office/drawing/2014/main" id="{8EC602A5-F250-91C1-F7B1-D284807A6243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Isosceles Triangle 65">
              <a:extLst>
                <a:ext uri="{FF2B5EF4-FFF2-40B4-BE49-F238E27FC236}">
                  <a16:creationId xmlns:a16="http://schemas.microsoft.com/office/drawing/2014/main" id="{F14594F4-6E7C-28B1-AA39-FFF75C8B9ECB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6" name="Rounded Rectangle 25">
            <a:extLst>
              <a:ext uri="{FF2B5EF4-FFF2-40B4-BE49-F238E27FC236}">
                <a16:creationId xmlns:a16="http://schemas.microsoft.com/office/drawing/2014/main" id="{1E08656F-197A-E6F2-18C0-A56F77EAD928}"/>
              </a:ext>
            </a:extLst>
          </p:cNvPr>
          <p:cNvSpPr/>
          <p:nvPr/>
        </p:nvSpPr>
        <p:spPr>
          <a:xfrm>
            <a:off x="3139034" y="3521324"/>
            <a:ext cx="2275324" cy="93726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D8AB6A4F-387D-EF7E-366E-AC2DB30E73DD}"/>
              </a:ext>
            </a:extLst>
          </p:cNvPr>
          <p:cNvCxnSpPr/>
          <p:nvPr/>
        </p:nvCxnSpPr>
        <p:spPr>
          <a:xfrm>
            <a:off x="2433928" y="2453313"/>
            <a:ext cx="13583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BFB3F4FA-3366-443C-F19E-21B5856BE76C}"/>
              </a:ext>
            </a:extLst>
          </p:cNvPr>
          <p:cNvSpPr/>
          <p:nvPr/>
        </p:nvSpPr>
        <p:spPr>
          <a:xfrm>
            <a:off x="1356358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B9DA72E8-CB42-552E-E77A-3CAE6A7EE8C3}"/>
              </a:ext>
            </a:extLst>
          </p:cNvPr>
          <p:cNvSpPr/>
          <p:nvPr/>
        </p:nvSpPr>
        <p:spPr>
          <a:xfrm>
            <a:off x="1525522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7BE29EE9-AF26-70B5-CFB7-ADB0736E0417}"/>
              </a:ext>
            </a:extLst>
          </p:cNvPr>
          <p:cNvSpPr/>
          <p:nvPr/>
        </p:nvSpPr>
        <p:spPr>
          <a:xfrm>
            <a:off x="1694686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28116092-D45D-95D9-C594-D75973B90C91}"/>
              </a:ext>
            </a:extLst>
          </p:cNvPr>
          <p:cNvSpPr/>
          <p:nvPr/>
        </p:nvSpPr>
        <p:spPr>
          <a:xfrm>
            <a:off x="1863850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7753F0BD-2753-B77B-0CEE-729D00163F19}"/>
              </a:ext>
            </a:extLst>
          </p:cNvPr>
          <p:cNvSpPr/>
          <p:nvPr/>
        </p:nvSpPr>
        <p:spPr>
          <a:xfrm>
            <a:off x="2033014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B1EB8E41-EA70-5133-AF3F-5236A0FD9FB6}"/>
              </a:ext>
            </a:extLst>
          </p:cNvPr>
          <p:cNvSpPr/>
          <p:nvPr/>
        </p:nvSpPr>
        <p:spPr>
          <a:xfrm>
            <a:off x="2202178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E31815E-19F3-DD61-8685-32C3EB1F3E4D}"/>
              </a:ext>
            </a:extLst>
          </p:cNvPr>
          <p:cNvSpPr/>
          <p:nvPr/>
        </p:nvSpPr>
        <p:spPr>
          <a:xfrm>
            <a:off x="4449666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25BCDDA-7100-97D4-8BE1-0985C43A7AA9}"/>
              </a:ext>
            </a:extLst>
          </p:cNvPr>
          <p:cNvSpPr/>
          <p:nvPr/>
        </p:nvSpPr>
        <p:spPr>
          <a:xfrm>
            <a:off x="4618830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47FC8B9-54CB-DD10-67BA-733700753C4A}"/>
              </a:ext>
            </a:extLst>
          </p:cNvPr>
          <p:cNvSpPr/>
          <p:nvPr/>
        </p:nvSpPr>
        <p:spPr>
          <a:xfrm>
            <a:off x="4787994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C7D639B-52FB-393F-C88E-85F36F7C4D05}"/>
              </a:ext>
            </a:extLst>
          </p:cNvPr>
          <p:cNvSpPr/>
          <p:nvPr/>
        </p:nvSpPr>
        <p:spPr>
          <a:xfrm>
            <a:off x="4957158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F9E914F-7903-7A77-8C66-0B64813C0045}"/>
              </a:ext>
            </a:extLst>
          </p:cNvPr>
          <p:cNvSpPr/>
          <p:nvPr/>
        </p:nvSpPr>
        <p:spPr>
          <a:xfrm>
            <a:off x="5126322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45C6EDC-A300-5284-DF5B-E59BCCCB0F71}"/>
              </a:ext>
            </a:extLst>
          </p:cNvPr>
          <p:cNvSpPr/>
          <p:nvPr/>
        </p:nvSpPr>
        <p:spPr>
          <a:xfrm>
            <a:off x="5295486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25">
            <a:extLst>
              <a:ext uri="{FF2B5EF4-FFF2-40B4-BE49-F238E27FC236}">
                <a16:creationId xmlns:a16="http://schemas.microsoft.com/office/drawing/2014/main" id="{3CB32936-28DD-A296-68AB-59D577700654}"/>
              </a:ext>
            </a:extLst>
          </p:cNvPr>
          <p:cNvSpPr/>
          <p:nvPr/>
        </p:nvSpPr>
        <p:spPr>
          <a:xfrm>
            <a:off x="6699652" y="2362321"/>
            <a:ext cx="2275324" cy="93726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0064DC6-F30D-40A6-4E2D-5AE8CB9AF8AC}"/>
              </a:ext>
            </a:extLst>
          </p:cNvPr>
          <p:cNvGrpSpPr/>
          <p:nvPr/>
        </p:nvGrpSpPr>
        <p:grpSpPr>
          <a:xfrm rot="5400000">
            <a:off x="1520879" y="4835090"/>
            <a:ext cx="690372" cy="137160"/>
            <a:chOff x="3072384" y="1897379"/>
            <a:chExt cx="690372" cy="137160"/>
          </a:xfrm>
        </p:grpSpPr>
        <p:cxnSp>
          <p:nvCxnSpPr>
            <p:cNvPr id="21" name="Connector 64">
              <a:extLst>
                <a:ext uri="{FF2B5EF4-FFF2-40B4-BE49-F238E27FC236}">
                  <a16:creationId xmlns:a16="http://schemas.microsoft.com/office/drawing/2014/main" id="{25464219-85EB-92EF-5F4C-CE89DC3D34C4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Isosceles Triangle 65">
              <a:extLst>
                <a:ext uri="{FF2B5EF4-FFF2-40B4-BE49-F238E27FC236}">
                  <a16:creationId xmlns:a16="http://schemas.microsoft.com/office/drawing/2014/main" id="{FF6A8008-5A5E-F874-0B0F-A1090E6DF4C5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4CEE35E-7A66-2539-2296-BE64A78028A2}"/>
              </a:ext>
            </a:extLst>
          </p:cNvPr>
          <p:cNvGrpSpPr/>
          <p:nvPr/>
        </p:nvGrpSpPr>
        <p:grpSpPr>
          <a:xfrm rot="5400000">
            <a:off x="4035900" y="4846928"/>
            <a:ext cx="690372" cy="137160"/>
            <a:chOff x="3072384" y="1897379"/>
            <a:chExt cx="690372" cy="137160"/>
          </a:xfrm>
        </p:grpSpPr>
        <p:cxnSp>
          <p:nvCxnSpPr>
            <p:cNvPr id="24" name="Connector 64">
              <a:extLst>
                <a:ext uri="{FF2B5EF4-FFF2-40B4-BE49-F238E27FC236}">
                  <a16:creationId xmlns:a16="http://schemas.microsoft.com/office/drawing/2014/main" id="{9E6B9D46-5475-E104-FF7F-6F3D8F0A742A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sosceles Triangle 65">
              <a:extLst>
                <a:ext uri="{FF2B5EF4-FFF2-40B4-BE49-F238E27FC236}">
                  <a16:creationId xmlns:a16="http://schemas.microsoft.com/office/drawing/2014/main" id="{D8C6EA48-4C6E-33ED-0539-EA27192F1652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AD37C19B-ECB6-69BF-6B19-D8AE5ECB083E}"/>
              </a:ext>
            </a:extLst>
          </p:cNvPr>
          <p:cNvSpPr/>
          <p:nvPr/>
        </p:nvSpPr>
        <p:spPr>
          <a:xfrm>
            <a:off x="7230966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3FA103EC-954C-E17B-E362-680E7B8090CC}"/>
              </a:ext>
            </a:extLst>
          </p:cNvPr>
          <p:cNvSpPr/>
          <p:nvPr/>
        </p:nvSpPr>
        <p:spPr>
          <a:xfrm>
            <a:off x="7400130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DF27972E-072C-5AEA-0B60-E3DFA7A82C9C}"/>
              </a:ext>
            </a:extLst>
          </p:cNvPr>
          <p:cNvSpPr/>
          <p:nvPr/>
        </p:nvSpPr>
        <p:spPr>
          <a:xfrm>
            <a:off x="7569294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A4097217-E6A5-8202-42C4-0E31A01E9904}"/>
              </a:ext>
            </a:extLst>
          </p:cNvPr>
          <p:cNvSpPr/>
          <p:nvPr/>
        </p:nvSpPr>
        <p:spPr>
          <a:xfrm>
            <a:off x="7738458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16">
            <a:extLst>
              <a:ext uri="{FF2B5EF4-FFF2-40B4-BE49-F238E27FC236}">
                <a16:creationId xmlns:a16="http://schemas.microsoft.com/office/drawing/2014/main" id="{52DADF76-D7F9-7AC9-60EB-C72DE860D3BF}"/>
              </a:ext>
            </a:extLst>
          </p:cNvPr>
          <p:cNvSpPr/>
          <p:nvPr/>
        </p:nvSpPr>
        <p:spPr>
          <a:xfrm>
            <a:off x="7907622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D78581F2-8E0D-44CF-A94F-3DB0C49FA869}"/>
              </a:ext>
            </a:extLst>
          </p:cNvPr>
          <p:cNvSpPr/>
          <p:nvPr/>
        </p:nvSpPr>
        <p:spPr>
          <a:xfrm>
            <a:off x="8076786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25">
            <a:extLst>
              <a:ext uri="{FF2B5EF4-FFF2-40B4-BE49-F238E27FC236}">
                <a16:creationId xmlns:a16="http://schemas.microsoft.com/office/drawing/2014/main" id="{49B00B98-3AD1-A9F3-DD25-6883D38C2CF0}"/>
              </a:ext>
            </a:extLst>
          </p:cNvPr>
          <p:cNvSpPr/>
          <p:nvPr/>
        </p:nvSpPr>
        <p:spPr>
          <a:xfrm>
            <a:off x="9528816" y="2362321"/>
            <a:ext cx="2275324" cy="93726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BEAD2724-6E8F-F611-4D13-1B8004C5DD46}"/>
              </a:ext>
            </a:extLst>
          </p:cNvPr>
          <p:cNvSpPr/>
          <p:nvPr/>
        </p:nvSpPr>
        <p:spPr>
          <a:xfrm>
            <a:off x="10060130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5208AFC5-CE99-D0F7-377A-7B781D48E293}"/>
              </a:ext>
            </a:extLst>
          </p:cNvPr>
          <p:cNvSpPr/>
          <p:nvPr/>
        </p:nvSpPr>
        <p:spPr>
          <a:xfrm>
            <a:off x="10229294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1638D5D0-C450-E896-4659-38DA565A3F4D}"/>
              </a:ext>
            </a:extLst>
          </p:cNvPr>
          <p:cNvSpPr/>
          <p:nvPr/>
        </p:nvSpPr>
        <p:spPr>
          <a:xfrm>
            <a:off x="10398458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EB37746-F12B-7B4B-9A18-1B5ACD309398}"/>
              </a:ext>
            </a:extLst>
          </p:cNvPr>
          <p:cNvSpPr/>
          <p:nvPr/>
        </p:nvSpPr>
        <p:spPr>
          <a:xfrm>
            <a:off x="10567622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A19FC866-E248-207B-BEA0-CDD8BDA93FF6}"/>
              </a:ext>
            </a:extLst>
          </p:cNvPr>
          <p:cNvSpPr/>
          <p:nvPr/>
        </p:nvSpPr>
        <p:spPr>
          <a:xfrm>
            <a:off x="10736786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7">
            <a:extLst>
              <a:ext uri="{FF2B5EF4-FFF2-40B4-BE49-F238E27FC236}">
                <a16:creationId xmlns:a16="http://schemas.microsoft.com/office/drawing/2014/main" id="{AFCA98CC-B678-A60B-5C08-D532B8D7CB21}"/>
              </a:ext>
            </a:extLst>
          </p:cNvPr>
          <p:cNvSpPr/>
          <p:nvPr/>
        </p:nvSpPr>
        <p:spPr>
          <a:xfrm>
            <a:off x="10905950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D52D10BD-ED88-9CA6-DA57-BD70CA919D04}"/>
              </a:ext>
            </a:extLst>
          </p:cNvPr>
          <p:cNvGrpSpPr/>
          <p:nvPr/>
        </p:nvGrpSpPr>
        <p:grpSpPr>
          <a:xfrm rot="16200000">
            <a:off x="7502106" y="4156556"/>
            <a:ext cx="690372" cy="137160"/>
            <a:chOff x="3072384" y="1897379"/>
            <a:chExt cx="690372" cy="137160"/>
          </a:xfrm>
        </p:grpSpPr>
        <p:cxnSp>
          <p:nvCxnSpPr>
            <p:cNvPr id="40" name="Connector 64">
              <a:extLst>
                <a:ext uri="{FF2B5EF4-FFF2-40B4-BE49-F238E27FC236}">
                  <a16:creationId xmlns:a16="http://schemas.microsoft.com/office/drawing/2014/main" id="{CDBC1C32-CD37-C804-72AB-2A5337918DA3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Isosceles Triangle 65">
              <a:extLst>
                <a:ext uri="{FF2B5EF4-FFF2-40B4-BE49-F238E27FC236}">
                  <a16:creationId xmlns:a16="http://schemas.microsoft.com/office/drawing/2014/main" id="{87DA66C5-5D58-8B49-4D20-58461FD506B6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59339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ED6E-CF0C-9D18-9939-294B29D1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25">
            <a:extLst>
              <a:ext uri="{FF2B5EF4-FFF2-40B4-BE49-F238E27FC236}">
                <a16:creationId xmlns:a16="http://schemas.microsoft.com/office/drawing/2014/main" id="{5D98F1E9-DE55-010F-A45D-E7764A512692}"/>
              </a:ext>
            </a:extLst>
          </p:cNvPr>
          <p:cNvSpPr/>
          <p:nvPr/>
        </p:nvSpPr>
        <p:spPr>
          <a:xfrm>
            <a:off x="908302" y="1272582"/>
            <a:ext cx="1828800" cy="100584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VLM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46" name="Rounded Rectangle 56">
            <a:extLst>
              <a:ext uri="{FF2B5EF4-FFF2-40B4-BE49-F238E27FC236}">
                <a16:creationId xmlns:a16="http://schemas.microsoft.com/office/drawing/2014/main" id="{0E85C67F-9C2C-5567-B243-A1AE62A7A239}"/>
              </a:ext>
            </a:extLst>
          </p:cNvPr>
          <p:cNvSpPr/>
          <p:nvPr/>
        </p:nvSpPr>
        <p:spPr>
          <a:xfrm>
            <a:off x="949450" y="3699632"/>
            <a:ext cx="1828800" cy="749808"/>
          </a:xfrm>
          <a:prstGeom prst="roundRect">
            <a:avLst/>
          </a:prstGeom>
          <a:solidFill>
            <a:srgbClr val="FDE9D8"/>
          </a:solidFill>
          <a:ln w="1778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sz="1050" b="1">
                <a:solidFill>
                  <a:srgbClr val="A55220"/>
                </a:solidFill>
                <a:latin typeface="Arial"/>
              </a:rPr>
              <a:t>Action</a:t>
            </a:r>
            <a:br/>
            <a:r>
              <a:rPr sz="1050" b="1">
                <a:solidFill>
                  <a:srgbClr val="A55220"/>
                </a:solidFill>
                <a:latin typeface="Arial"/>
              </a:rPr>
              <a:t>Head</a:t>
            </a:r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0759F2EE-594E-E338-5ACA-7475A3DB2A58}"/>
              </a:ext>
            </a:extLst>
          </p:cNvPr>
          <p:cNvGrpSpPr/>
          <p:nvPr/>
        </p:nvGrpSpPr>
        <p:grpSpPr>
          <a:xfrm rot="5400000">
            <a:off x="1509520" y="3107557"/>
            <a:ext cx="690372" cy="137160"/>
            <a:chOff x="3072384" y="1897379"/>
            <a:chExt cx="690372" cy="137160"/>
          </a:xfrm>
        </p:grpSpPr>
        <p:cxnSp>
          <p:nvCxnSpPr>
            <p:cNvPr id="153" name="Connector 64">
              <a:extLst>
                <a:ext uri="{FF2B5EF4-FFF2-40B4-BE49-F238E27FC236}">
                  <a16:creationId xmlns:a16="http://schemas.microsoft.com/office/drawing/2014/main" id="{B474EBC3-F2C9-3955-4D2B-E2261C067FBF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Isosceles Triangle 65">
              <a:extLst>
                <a:ext uri="{FF2B5EF4-FFF2-40B4-BE49-F238E27FC236}">
                  <a16:creationId xmlns:a16="http://schemas.microsoft.com/office/drawing/2014/main" id="{805F782B-1874-15B6-9E07-45C8D41D6450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6" name="Rounded Rectangle 25">
            <a:extLst>
              <a:ext uri="{FF2B5EF4-FFF2-40B4-BE49-F238E27FC236}">
                <a16:creationId xmlns:a16="http://schemas.microsoft.com/office/drawing/2014/main" id="{9866B3B7-47B8-FD6F-C9FB-F989B025297A}"/>
              </a:ext>
            </a:extLst>
          </p:cNvPr>
          <p:cNvSpPr/>
          <p:nvPr/>
        </p:nvSpPr>
        <p:spPr>
          <a:xfrm>
            <a:off x="3139034" y="3521324"/>
            <a:ext cx="2275324" cy="93726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C34BCEAB-8A95-1CF2-4B54-F028EC1ED353}"/>
              </a:ext>
            </a:extLst>
          </p:cNvPr>
          <p:cNvCxnSpPr/>
          <p:nvPr/>
        </p:nvCxnSpPr>
        <p:spPr>
          <a:xfrm>
            <a:off x="2433928" y="2453313"/>
            <a:ext cx="135830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12">
            <a:extLst>
              <a:ext uri="{FF2B5EF4-FFF2-40B4-BE49-F238E27FC236}">
                <a16:creationId xmlns:a16="http://schemas.microsoft.com/office/drawing/2014/main" id="{B355549F-BCBE-5635-BAB5-1263B3888066}"/>
              </a:ext>
            </a:extLst>
          </p:cNvPr>
          <p:cNvSpPr/>
          <p:nvPr/>
        </p:nvSpPr>
        <p:spPr>
          <a:xfrm>
            <a:off x="1356358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9F519B63-DD33-7C2D-DB97-64468319C0D1}"/>
              </a:ext>
            </a:extLst>
          </p:cNvPr>
          <p:cNvSpPr/>
          <p:nvPr/>
        </p:nvSpPr>
        <p:spPr>
          <a:xfrm>
            <a:off x="1525522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CA0A5287-C129-BF7A-5241-196488E6EDE3}"/>
              </a:ext>
            </a:extLst>
          </p:cNvPr>
          <p:cNvSpPr/>
          <p:nvPr/>
        </p:nvSpPr>
        <p:spPr>
          <a:xfrm>
            <a:off x="1694686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D09B16D0-E301-26E9-9436-FD15C9FE596A}"/>
              </a:ext>
            </a:extLst>
          </p:cNvPr>
          <p:cNvSpPr/>
          <p:nvPr/>
        </p:nvSpPr>
        <p:spPr>
          <a:xfrm>
            <a:off x="1863850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928D2550-5041-4C41-7644-8315AB0E7658}"/>
              </a:ext>
            </a:extLst>
          </p:cNvPr>
          <p:cNvSpPr/>
          <p:nvPr/>
        </p:nvSpPr>
        <p:spPr>
          <a:xfrm>
            <a:off x="2033014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7">
            <a:extLst>
              <a:ext uri="{FF2B5EF4-FFF2-40B4-BE49-F238E27FC236}">
                <a16:creationId xmlns:a16="http://schemas.microsoft.com/office/drawing/2014/main" id="{E9A437F1-F9CA-CC35-919F-B5D9AF641CD7}"/>
              </a:ext>
            </a:extLst>
          </p:cNvPr>
          <p:cNvSpPr/>
          <p:nvPr/>
        </p:nvSpPr>
        <p:spPr>
          <a:xfrm>
            <a:off x="2202178" y="239387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83D388E-D43D-9775-2472-4AA1527E60A5}"/>
              </a:ext>
            </a:extLst>
          </p:cNvPr>
          <p:cNvSpPr/>
          <p:nvPr/>
        </p:nvSpPr>
        <p:spPr>
          <a:xfrm>
            <a:off x="4449666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F13D03-D68D-1869-4B87-ED852DB3A893}"/>
              </a:ext>
            </a:extLst>
          </p:cNvPr>
          <p:cNvSpPr/>
          <p:nvPr/>
        </p:nvSpPr>
        <p:spPr>
          <a:xfrm>
            <a:off x="4618830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E0CDE81-553E-1DB0-146F-0F9D85AF216C}"/>
              </a:ext>
            </a:extLst>
          </p:cNvPr>
          <p:cNvSpPr/>
          <p:nvPr/>
        </p:nvSpPr>
        <p:spPr>
          <a:xfrm>
            <a:off x="4787994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25288E0-FEA8-0117-FEE9-1713159568AB}"/>
              </a:ext>
            </a:extLst>
          </p:cNvPr>
          <p:cNvSpPr/>
          <p:nvPr/>
        </p:nvSpPr>
        <p:spPr>
          <a:xfrm>
            <a:off x="4957158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BD4B8BE-338C-4E02-71CD-C838E56EF578}"/>
              </a:ext>
            </a:extLst>
          </p:cNvPr>
          <p:cNvSpPr/>
          <p:nvPr/>
        </p:nvSpPr>
        <p:spPr>
          <a:xfrm>
            <a:off x="5126322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3BC5C3B-5BFC-89D1-FD8A-F1BFAFDA4C1C}"/>
              </a:ext>
            </a:extLst>
          </p:cNvPr>
          <p:cNvSpPr/>
          <p:nvPr/>
        </p:nvSpPr>
        <p:spPr>
          <a:xfrm>
            <a:off x="5295486" y="1706017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25">
            <a:extLst>
              <a:ext uri="{FF2B5EF4-FFF2-40B4-BE49-F238E27FC236}">
                <a16:creationId xmlns:a16="http://schemas.microsoft.com/office/drawing/2014/main" id="{1731BA70-6D31-20B1-0FE2-9AF92E4789A4}"/>
              </a:ext>
            </a:extLst>
          </p:cNvPr>
          <p:cNvSpPr/>
          <p:nvPr/>
        </p:nvSpPr>
        <p:spPr>
          <a:xfrm>
            <a:off x="6699652" y="2362321"/>
            <a:ext cx="2275324" cy="93726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99F5977-9A4E-778D-D662-E89B0C2760C3}"/>
              </a:ext>
            </a:extLst>
          </p:cNvPr>
          <p:cNvGrpSpPr/>
          <p:nvPr/>
        </p:nvGrpSpPr>
        <p:grpSpPr>
          <a:xfrm rot="5400000">
            <a:off x="1520879" y="4835090"/>
            <a:ext cx="690372" cy="137160"/>
            <a:chOff x="3072384" y="1897379"/>
            <a:chExt cx="690372" cy="137160"/>
          </a:xfrm>
        </p:grpSpPr>
        <p:cxnSp>
          <p:nvCxnSpPr>
            <p:cNvPr id="21" name="Connector 64">
              <a:extLst>
                <a:ext uri="{FF2B5EF4-FFF2-40B4-BE49-F238E27FC236}">
                  <a16:creationId xmlns:a16="http://schemas.microsoft.com/office/drawing/2014/main" id="{9F919262-1B95-A01F-B5BA-31E9D6ADBE95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Isosceles Triangle 65">
              <a:extLst>
                <a:ext uri="{FF2B5EF4-FFF2-40B4-BE49-F238E27FC236}">
                  <a16:creationId xmlns:a16="http://schemas.microsoft.com/office/drawing/2014/main" id="{256959DF-5C90-87C8-6FCC-0FAB0A2E993F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C5C82C1-B45F-BD8F-8CD0-70E68DC2321F}"/>
              </a:ext>
            </a:extLst>
          </p:cNvPr>
          <p:cNvGrpSpPr/>
          <p:nvPr/>
        </p:nvGrpSpPr>
        <p:grpSpPr>
          <a:xfrm rot="5400000">
            <a:off x="4035900" y="4846928"/>
            <a:ext cx="690372" cy="137160"/>
            <a:chOff x="3072384" y="1897379"/>
            <a:chExt cx="690372" cy="137160"/>
          </a:xfrm>
        </p:grpSpPr>
        <p:cxnSp>
          <p:nvCxnSpPr>
            <p:cNvPr id="24" name="Connector 64">
              <a:extLst>
                <a:ext uri="{FF2B5EF4-FFF2-40B4-BE49-F238E27FC236}">
                  <a16:creationId xmlns:a16="http://schemas.microsoft.com/office/drawing/2014/main" id="{0172DE45-D7B1-CEBF-CAA6-B21FB02298DB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sosceles Triangle 65">
              <a:extLst>
                <a:ext uri="{FF2B5EF4-FFF2-40B4-BE49-F238E27FC236}">
                  <a16:creationId xmlns:a16="http://schemas.microsoft.com/office/drawing/2014/main" id="{2742E70E-4214-7642-7C98-F2F915BB31CE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6" name="Rounded Rectangle 12">
            <a:extLst>
              <a:ext uri="{FF2B5EF4-FFF2-40B4-BE49-F238E27FC236}">
                <a16:creationId xmlns:a16="http://schemas.microsoft.com/office/drawing/2014/main" id="{3A4E404A-45C4-A5AA-1A20-24397E4C45A9}"/>
              </a:ext>
            </a:extLst>
          </p:cNvPr>
          <p:cNvSpPr/>
          <p:nvPr/>
        </p:nvSpPr>
        <p:spPr>
          <a:xfrm>
            <a:off x="7230966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A2575F13-38C3-8B59-54D9-9919048B953C}"/>
              </a:ext>
            </a:extLst>
          </p:cNvPr>
          <p:cNvSpPr/>
          <p:nvPr/>
        </p:nvSpPr>
        <p:spPr>
          <a:xfrm>
            <a:off x="7400130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BD0A643D-8642-2D36-BD40-F50C3759A873}"/>
              </a:ext>
            </a:extLst>
          </p:cNvPr>
          <p:cNvSpPr/>
          <p:nvPr/>
        </p:nvSpPr>
        <p:spPr>
          <a:xfrm>
            <a:off x="7569294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3D63DFDF-FB4B-9C46-7313-C5579BF0B360}"/>
              </a:ext>
            </a:extLst>
          </p:cNvPr>
          <p:cNvSpPr/>
          <p:nvPr/>
        </p:nvSpPr>
        <p:spPr>
          <a:xfrm>
            <a:off x="7738458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16">
            <a:extLst>
              <a:ext uri="{FF2B5EF4-FFF2-40B4-BE49-F238E27FC236}">
                <a16:creationId xmlns:a16="http://schemas.microsoft.com/office/drawing/2014/main" id="{C427F8FB-8EBC-9FA3-B8B0-5D8AE27DE550}"/>
              </a:ext>
            </a:extLst>
          </p:cNvPr>
          <p:cNvSpPr/>
          <p:nvPr/>
        </p:nvSpPr>
        <p:spPr>
          <a:xfrm>
            <a:off x="7907622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17">
            <a:extLst>
              <a:ext uri="{FF2B5EF4-FFF2-40B4-BE49-F238E27FC236}">
                <a16:creationId xmlns:a16="http://schemas.microsoft.com/office/drawing/2014/main" id="{6192F841-19E5-073E-2AFB-F658EB8A8C94}"/>
              </a:ext>
            </a:extLst>
          </p:cNvPr>
          <p:cNvSpPr/>
          <p:nvPr/>
        </p:nvSpPr>
        <p:spPr>
          <a:xfrm>
            <a:off x="8076786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25">
            <a:extLst>
              <a:ext uri="{FF2B5EF4-FFF2-40B4-BE49-F238E27FC236}">
                <a16:creationId xmlns:a16="http://schemas.microsoft.com/office/drawing/2014/main" id="{B156350D-734E-4CE3-1DBE-CB50650E50B3}"/>
              </a:ext>
            </a:extLst>
          </p:cNvPr>
          <p:cNvSpPr/>
          <p:nvPr/>
        </p:nvSpPr>
        <p:spPr>
          <a:xfrm>
            <a:off x="9528816" y="2362321"/>
            <a:ext cx="2275324" cy="93726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D4894C57-3324-2A0C-F140-703AAADDA7B8}"/>
              </a:ext>
            </a:extLst>
          </p:cNvPr>
          <p:cNvSpPr/>
          <p:nvPr/>
        </p:nvSpPr>
        <p:spPr>
          <a:xfrm>
            <a:off x="10060130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999E2DE1-55C1-FDB0-F0F5-AD8DEBA0D8C3}"/>
              </a:ext>
            </a:extLst>
          </p:cNvPr>
          <p:cNvSpPr/>
          <p:nvPr/>
        </p:nvSpPr>
        <p:spPr>
          <a:xfrm>
            <a:off x="10229294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7D7073F2-C366-2B52-D7DA-2BD638B92B08}"/>
              </a:ext>
            </a:extLst>
          </p:cNvPr>
          <p:cNvSpPr/>
          <p:nvPr/>
        </p:nvSpPr>
        <p:spPr>
          <a:xfrm>
            <a:off x="10398458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9B712DFB-8E57-0225-084C-6B2B1FB7E9B1}"/>
              </a:ext>
            </a:extLst>
          </p:cNvPr>
          <p:cNvSpPr/>
          <p:nvPr/>
        </p:nvSpPr>
        <p:spPr>
          <a:xfrm>
            <a:off x="10567622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723B9017-268D-DD39-7423-188E24BE7FFF}"/>
              </a:ext>
            </a:extLst>
          </p:cNvPr>
          <p:cNvSpPr/>
          <p:nvPr/>
        </p:nvSpPr>
        <p:spPr>
          <a:xfrm>
            <a:off x="10736786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7">
            <a:extLst>
              <a:ext uri="{FF2B5EF4-FFF2-40B4-BE49-F238E27FC236}">
                <a16:creationId xmlns:a16="http://schemas.microsoft.com/office/drawing/2014/main" id="{F7B3B07B-AFC9-AB9E-2246-62E828571C68}"/>
              </a:ext>
            </a:extLst>
          </p:cNvPr>
          <p:cNvSpPr/>
          <p:nvPr/>
        </p:nvSpPr>
        <p:spPr>
          <a:xfrm>
            <a:off x="10905950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5C0AA1C-F650-2244-A593-824F06E70EF4}"/>
              </a:ext>
            </a:extLst>
          </p:cNvPr>
          <p:cNvGrpSpPr/>
          <p:nvPr/>
        </p:nvGrpSpPr>
        <p:grpSpPr>
          <a:xfrm rot="16200000">
            <a:off x="7502106" y="4156556"/>
            <a:ext cx="690372" cy="137160"/>
            <a:chOff x="3072384" y="1897379"/>
            <a:chExt cx="690372" cy="137160"/>
          </a:xfrm>
        </p:grpSpPr>
        <p:cxnSp>
          <p:nvCxnSpPr>
            <p:cNvPr id="40" name="Connector 64">
              <a:extLst>
                <a:ext uri="{FF2B5EF4-FFF2-40B4-BE49-F238E27FC236}">
                  <a16:creationId xmlns:a16="http://schemas.microsoft.com/office/drawing/2014/main" id="{0DEC0356-DB36-5D2A-F180-5D6AC070075E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Isosceles Triangle 65">
              <a:extLst>
                <a:ext uri="{FF2B5EF4-FFF2-40B4-BE49-F238E27FC236}">
                  <a16:creationId xmlns:a16="http://schemas.microsoft.com/office/drawing/2014/main" id="{F5A2FA5E-3EDA-7D34-2F87-1F5ED44CD695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67705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048D9-36AD-A391-0717-F99D9DD9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E9B1E0AD-76BE-CC10-3947-FAD0A85113A6}"/>
              </a:ext>
            </a:extLst>
          </p:cNvPr>
          <p:cNvSpPr/>
          <p:nvPr/>
        </p:nvSpPr>
        <p:spPr>
          <a:xfrm>
            <a:off x="1743477" y="3225686"/>
            <a:ext cx="1022735" cy="391389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Rounded Rectangle 25">
            <a:extLst>
              <a:ext uri="{FF2B5EF4-FFF2-40B4-BE49-F238E27FC236}">
                <a16:creationId xmlns:a16="http://schemas.microsoft.com/office/drawing/2014/main" id="{02AD19AC-BDED-8C26-8CB0-0C7D2E1A3ED3}"/>
              </a:ext>
            </a:extLst>
          </p:cNvPr>
          <p:cNvSpPr/>
          <p:nvPr/>
        </p:nvSpPr>
        <p:spPr>
          <a:xfrm>
            <a:off x="800285" y="2136906"/>
            <a:ext cx="4099129" cy="100584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VLM</a:t>
            </a:r>
            <a:endParaRPr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Rounded Rectangle 56">
            <a:extLst>
              <a:ext uri="{FF2B5EF4-FFF2-40B4-BE49-F238E27FC236}">
                <a16:creationId xmlns:a16="http://schemas.microsoft.com/office/drawing/2014/main" id="{8D2F0C2D-9351-691D-4EB5-CAD6B6936938}"/>
              </a:ext>
            </a:extLst>
          </p:cNvPr>
          <p:cNvSpPr/>
          <p:nvPr/>
        </p:nvSpPr>
        <p:spPr>
          <a:xfrm>
            <a:off x="841434" y="4563956"/>
            <a:ext cx="1828800" cy="749808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FE06BF56-86B9-7680-03D8-24CF0D372674}"/>
              </a:ext>
            </a:extLst>
          </p:cNvPr>
          <p:cNvGrpSpPr/>
          <p:nvPr/>
        </p:nvGrpSpPr>
        <p:grpSpPr>
          <a:xfrm rot="5400000">
            <a:off x="1401504" y="3971881"/>
            <a:ext cx="690372" cy="137160"/>
            <a:chOff x="3072384" y="1897379"/>
            <a:chExt cx="690372" cy="137160"/>
          </a:xfrm>
        </p:grpSpPr>
        <p:cxnSp>
          <p:nvCxnSpPr>
            <p:cNvPr id="153" name="Connector 64">
              <a:extLst>
                <a:ext uri="{FF2B5EF4-FFF2-40B4-BE49-F238E27FC236}">
                  <a16:creationId xmlns:a16="http://schemas.microsoft.com/office/drawing/2014/main" id="{ED6A8671-A64E-2D74-249D-BC4DE2854368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Isosceles Triangle 65">
              <a:extLst>
                <a:ext uri="{FF2B5EF4-FFF2-40B4-BE49-F238E27FC236}">
                  <a16:creationId xmlns:a16="http://schemas.microsoft.com/office/drawing/2014/main" id="{CCF26EF9-4AEA-0675-DD20-2EF6B4F536AD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Rounded Rectangle 25">
            <a:extLst>
              <a:ext uri="{FF2B5EF4-FFF2-40B4-BE49-F238E27FC236}">
                <a16:creationId xmlns:a16="http://schemas.microsoft.com/office/drawing/2014/main" id="{798E0CC8-5374-55D7-FD1D-22C68F62FB3E}"/>
              </a:ext>
            </a:extLst>
          </p:cNvPr>
          <p:cNvSpPr/>
          <p:nvPr/>
        </p:nvSpPr>
        <p:spPr>
          <a:xfrm>
            <a:off x="6699652" y="2362321"/>
            <a:ext cx="2275324" cy="93726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F5035EC-5917-AB66-59CB-DDB7153EE21F}"/>
              </a:ext>
            </a:extLst>
          </p:cNvPr>
          <p:cNvGrpSpPr/>
          <p:nvPr/>
        </p:nvGrpSpPr>
        <p:grpSpPr>
          <a:xfrm rot="5400000">
            <a:off x="1370893" y="5699414"/>
            <a:ext cx="690372" cy="137160"/>
            <a:chOff x="3072384" y="1897379"/>
            <a:chExt cx="690372" cy="137160"/>
          </a:xfrm>
        </p:grpSpPr>
        <p:cxnSp>
          <p:nvCxnSpPr>
            <p:cNvPr id="21" name="Connector 64">
              <a:extLst>
                <a:ext uri="{FF2B5EF4-FFF2-40B4-BE49-F238E27FC236}">
                  <a16:creationId xmlns:a16="http://schemas.microsoft.com/office/drawing/2014/main" id="{005C291C-C3A9-CDFE-87C7-DFA7FFFAF429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Isosceles Triangle 65">
              <a:extLst>
                <a:ext uri="{FF2B5EF4-FFF2-40B4-BE49-F238E27FC236}">
                  <a16:creationId xmlns:a16="http://schemas.microsoft.com/office/drawing/2014/main" id="{34C7983C-E441-8C57-B4CD-EB634797593C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B56EAF2-9586-F89C-BB76-6DFE4D6AA564}"/>
              </a:ext>
            </a:extLst>
          </p:cNvPr>
          <p:cNvGrpSpPr/>
          <p:nvPr/>
        </p:nvGrpSpPr>
        <p:grpSpPr>
          <a:xfrm rot="5400000">
            <a:off x="3758720" y="5699414"/>
            <a:ext cx="690372" cy="137160"/>
            <a:chOff x="3072384" y="1897379"/>
            <a:chExt cx="690372" cy="137160"/>
          </a:xfrm>
        </p:grpSpPr>
        <p:cxnSp>
          <p:nvCxnSpPr>
            <p:cNvPr id="24" name="Connector 64">
              <a:extLst>
                <a:ext uri="{FF2B5EF4-FFF2-40B4-BE49-F238E27FC236}">
                  <a16:creationId xmlns:a16="http://schemas.microsoft.com/office/drawing/2014/main" id="{CA84B4CC-6725-798F-29BD-6AEFAB14F285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sosceles Triangle 65">
              <a:extLst>
                <a:ext uri="{FF2B5EF4-FFF2-40B4-BE49-F238E27FC236}">
                  <a16:creationId xmlns:a16="http://schemas.microsoft.com/office/drawing/2014/main" id="{34BF6D6F-8BCF-A013-D54D-ED3D60B5769F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2" name="Rounded Rectangle 25">
            <a:extLst>
              <a:ext uri="{FF2B5EF4-FFF2-40B4-BE49-F238E27FC236}">
                <a16:creationId xmlns:a16="http://schemas.microsoft.com/office/drawing/2014/main" id="{8D3F98B4-428C-731C-53D8-221D6DFA8B33}"/>
              </a:ext>
            </a:extLst>
          </p:cNvPr>
          <p:cNvSpPr/>
          <p:nvPr/>
        </p:nvSpPr>
        <p:spPr>
          <a:xfrm>
            <a:off x="9528816" y="2362321"/>
            <a:ext cx="2275324" cy="93726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Grounding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Head</a:t>
            </a:r>
          </a:p>
        </p:txBody>
      </p:sp>
      <p:sp>
        <p:nvSpPr>
          <p:cNvPr id="33" name="Rounded Rectangle 12">
            <a:extLst>
              <a:ext uri="{FF2B5EF4-FFF2-40B4-BE49-F238E27FC236}">
                <a16:creationId xmlns:a16="http://schemas.microsoft.com/office/drawing/2014/main" id="{8085B3D5-EEAA-5B50-4371-1439C1BCAAD3}"/>
              </a:ext>
            </a:extLst>
          </p:cNvPr>
          <p:cNvSpPr/>
          <p:nvPr/>
        </p:nvSpPr>
        <p:spPr>
          <a:xfrm>
            <a:off x="10060130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1DB2FCFF-31BB-F909-79B6-49B72120DA59}"/>
              </a:ext>
            </a:extLst>
          </p:cNvPr>
          <p:cNvSpPr/>
          <p:nvPr/>
        </p:nvSpPr>
        <p:spPr>
          <a:xfrm>
            <a:off x="10229294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14">
            <a:extLst>
              <a:ext uri="{FF2B5EF4-FFF2-40B4-BE49-F238E27FC236}">
                <a16:creationId xmlns:a16="http://schemas.microsoft.com/office/drawing/2014/main" id="{507E9341-C021-11CE-D221-78CA75A82DA7}"/>
              </a:ext>
            </a:extLst>
          </p:cNvPr>
          <p:cNvSpPr/>
          <p:nvPr/>
        </p:nvSpPr>
        <p:spPr>
          <a:xfrm>
            <a:off x="10398458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FC54B3A8-F9E0-A432-7250-978A470851C4}"/>
              </a:ext>
            </a:extLst>
          </p:cNvPr>
          <p:cNvSpPr/>
          <p:nvPr/>
        </p:nvSpPr>
        <p:spPr>
          <a:xfrm>
            <a:off x="10567622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AA82307D-CAFD-A913-4616-14649971CE79}"/>
              </a:ext>
            </a:extLst>
          </p:cNvPr>
          <p:cNvSpPr/>
          <p:nvPr/>
        </p:nvSpPr>
        <p:spPr>
          <a:xfrm>
            <a:off x="10736786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7">
            <a:extLst>
              <a:ext uri="{FF2B5EF4-FFF2-40B4-BE49-F238E27FC236}">
                <a16:creationId xmlns:a16="http://schemas.microsoft.com/office/drawing/2014/main" id="{C24F7DC7-4B4A-C016-A42F-2BE8FAFD6FF9}"/>
              </a:ext>
            </a:extLst>
          </p:cNvPr>
          <p:cNvSpPr/>
          <p:nvPr/>
        </p:nvSpPr>
        <p:spPr>
          <a:xfrm>
            <a:off x="10905950" y="2159550"/>
            <a:ext cx="118872" cy="118872"/>
          </a:xfrm>
          <a:prstGeom prst="roundRect">
            <a:avLst/>
          </a:prstGeom>
          <a:solidFill>
            <a:srgbClr val="EDF5FF"/>
          </a:solidFill>
          <a:ln w="1143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1FB97738-3087-3297-AD2E-7C989901CF2A}"/>
              </a:ext>
            </a:extLst>
          </p:cNvPr>
          <p:cNvGrpSpPr/>
          <p:nvPr/>
        </p:nvGrpSpPr>
        <p:grpSpPr>
          <a:xfrm rot="16200000">
            <a:off x="7423548" y="3970766"/>
            <a:ext cx="690372" cy="137160"/>
            <a:chOff x="3072384" y="1897379"/>
            <a:chExt cx="690372" cy="137160"/>
          </a:xfrm>
        </p:grpSpPr>
        <p:cxnSp>
          <p:nvCxnSpPr>
            <p:cNvPr id="40" name="Connector 64">
              <a:extLst>
                <a:ext uri="{FF2B5EF4-FFF2-40B4-BE49-F238E27FC236}">
                  <a16:creationId xmlns:a16="http://schemas.microsoft.com/office/drawing/2014/main" id="{B8ECB46B-52D0-4398-42D2-89E53BE82E92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Isosceles Triangle 65">
              <a:extLst>
                <a:ext uri="{FF2B5EF4-FFF2-40B4-BE49-F238E27FC236}">
                  <a16:creationId xmlns:a16="http://schemas.microsoft.com/office/drawing/2014/main" id="{12245BC8-3BB9-6122-7E8A-0B70EAE48710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ounded Rectangle 56">
            <a:extLst>
              <a:ext uri="{FF2B5EF4-FFF2-40B4-BE49-F238E27FC236}">
                <a16:creationId xmlns:a16="http://schemas.microsoft.com/office/drawing/2014/main" id="{3A323214-5CDA-E18B-2DC8-97C1A533523F}"/>
              </a:ext>
            </a:extLst>
          </p:cNvPr>
          <p:cNvSpPr/>
          <p:nvPr/>
        </p:nvSpPr>
        <p:spPr>
          <a:xfrm>
            <a:off x="3189506" y="4558484"/>
            <a:ext cx="1828800" cy="749808"/>
          </a:xfrm>
          <a:prstGeom prst="roundRect">
            <a:avLst/>
          </a:prstGeom>
          <a:solidFill>
            <a:srgbClr val="FDE9D8"/>
          </a:solidFill>
          <a:ln w="1778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A552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Guiding Head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FEA6A2-0D95-6C68-D87A-7578C8EEA534}"/>
              </a:ext>
            </a:extLst>
          </p:cNvPr>
          <p:cNvSpPr txBox="1"/>
          <p:nvPr/>
        </p:nvSpPr>
        <p:spPr>
          <a:xfrm>
            <a:off x="930817" y="6228480"/>
            <a:ext cx="1567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dirty="0"/>
              <a:t>ction Loss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A838DF9-C10A-30DF-F339-3421A97E0AEE}"/>
              </a:ext>
            </a:extLst>
          </p:cNvPr>
          <p:cNvSpPr txBox="1"/>
          <p:nvPr/>
        </p:nvSpPr>
        <p:spPr>
          <a:xfrm>
            <a:off x="3074420" y="6228480"/>
            <a:ext cx="2196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Reconstruction Loss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83854839-1DD4-F6EC-78EF-E1E4BA3768F0}"/>
              </a:ext>
            </a:extLst>
          </p:cNvPr>
          <p:cNvSpPr/>
          <p:nvPr/>
        </p:nvSpPr>
        <p:spPr>
          <a:xfrm>
            <a:off x="845852" y="3309010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94AD415D-2C91-D748-3AAF-ADD266E26F0D}"/>
              </a:ext>
            </a:extLst>
          </p:cNvPr>
          <p:cNvSpPr/>
          <p:nvPr/>
        </p:nvSpPr>
        <p:spPr>
          <a:xfrm>
            <a:off x="1103150" y="3309009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BED018C9-8AD4-DE83-7AB5-C92AFB2E186C}"/>
              </a:ext>
            </a:extLst>
          </p:cNvPr>
          <p:cNvSpPr/>
          <p:nvPr/>
        </p:nvSpPr>
        <p:spPr>
          <a:xfrm>
            <a:off x="1356897" y="3309009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5A1BDAD9-A4AF-425E-E7E2-5E351186B9BD}"/>
              </a:ext>
            </a:extLst>
          </p:cNvPr>
          <p:cNvSpPr/>
          <p:nvPr/>
        </p:nvSpPr>
        <p:spPr>
          <a:xfrm>
            <a:off x="1864391" y="3307647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2E6D61C9-05CB-216A-60DC-75D3A4C1C350}"/>
              </a:ext>
            </a:extLst>
          </p:cNvPr>
          <p:cNvSpPr/>
          <p:nvPr/>
        </p:nvSpPr>
        <p:spPr>
          <a:xfrm>
            <a:off x="2121689" y="3307646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EEB3C07E-5F6B-B112-27B1-900BAADB34D0}"/>
              </a:ext>
            </a:extLst>
          </p:cNvPr>
          <p:cNvSpPr/>
          <p:nvPr/>
        </p:nvSpPr>
        <p:spPr>
          <a:xfrm>
            <a:off x="2375436" y="3307646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B6B5B7E0-607E-F908-589A-B06EB8D94627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66939" y="3647565"/>
            <a:ext cx="975671" cy="498262"/>
          </a:xfrm>
          <a:prstGeom prst="bentConnector3">
            <a:avLst>
              <a:gd name="adj1" fmla="val -112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圆角矩形 5">
            <a:extLst>
              <a:ext uri="{FF2B5EF4-FFF2-40B4-BE49-F238E27FC236}">
                <a16:creationId xmlns:a16="http://schemas.microsoft.com/office/drawing/2014/main" id="{67153F07-F545-9417-3AB5-DF33586A82FB}"/>
              </a:ext>
            </a:extLst>
          </p:cNvPr>
          <p:cNvSpPr/>
          <p:nvPr/>
        </p:nvSpPr>
        <p:spPr>
          <a:xfrm>
            <a:off x="6704422" y="2043460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8D14608-0E1C-86E0-A7E4-0449D0EC7D2F}"/>
              </a:ext>
            </a:extLst>
          </p:cNvPr>
          <p:cNvSpPr/>
          <p:nvPr/>
        </p:nvSpPr>
        <p:spPr>
          <a:xfrm>
            <a:off x="6961720" y="2043459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3E11A62F-19F3-615F-E7BD-22EC5D14ADD8}"/>
              </a:ext>
            </a:extLst>
          </p:cNvPr>
          <p:cNvSpPr/>
          <p:nvPr/>
        </p:nvSpPr>
        <p:spPr>
          <a:xfrm>
            <a:off x="7215467" y="2043459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8B5E42-EFEC-5AFB-0A26-DE27F3111562}"/>
              </a:ext>
            </a:extLst>
          </p:cNvPr>
          <p:cNvSpPr txBox="1"/>
          <p:nvPr/>
        </p:nvSpPr>
        <p:spPr>
          <a:xfrm>
            <a:off x="6739248" y="4558484"/>
            <a:ext cx="2196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Reconstruction Loss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A7D1D2E-9B9D-64E8-4F35-014B0CADCBAE}"/>
              </a:ext>
            </a:extLst>
          </p:cNvPr>
          <p:cNvSpPr/>
          <p:nvPr/>
        </p:nvSpPr>
        <p:spPr>
          <a:xfrm>
            <a:off x="2912283" y="3302891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B75DDBAD-C0F2-FFCA-C3F4-41170E0AEEA1}"/>
              </a:ext>
            </a:extLst>
          </p:cNvPr>
          <p:cNvSpPr/>
          <p:nvPr/>
        </p:nvSpPr>
        <p:spPr>
          <a:xfrm>
            <a:off x="3169581" y="3302890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43C3513-C5D7-63F8-A759-EE56D7A07463}"/>
              </a:ext>
            </a:extLst>
          </p:cNvPr>
          <p:cNvSpPr txBox="1"/>
          <p:nvPr/>
        </p:nvSpPr>
        <p:spPr>
          <a:xfrm>
            <a:off x="2849849" y="1649671"/>
            <a:ext cx="1567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 Prompt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63FC9839-3208-EB2E-4C37-3C51A80E4A44}"/>
              </a:ext>
            </a:extLst>
          </p:cNvPr>
          <p:cNvSpPr/>
          <p:nvPr/>
        </p:nvSpPr>
        <p:spPr>
          <a:xfrm>
            <a:off x="959728" y="470228"/>
            <a:ext cx="1179443" cy="1179443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A1C49A6B-5906-A200-FC64-0CDAA68D68EE}"/>
              </a:ext>
            </a:extLst>
          </p:cNvPr>
          <p:cNvSpPr txBox="1"/>
          <p:nvPr/>
        </p:nvSpPr>
        <p:spPr>
          <a:xfrm>
            <a:off x="807698" y="1667466"/>
            <a:ext cx="1567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67F73C74-9F97-595A-7092-10E8309309AB}"/>
              </a:ext>
            </a:extLst>
          </p:cNvPr>
          <p:cNvSpPr/>
          <p:nvPr/>
        </p:nvSpPr>
        <p:spPr>
          <a:xfrm>
            <a:off x="2849849" y="1059949"/>
            <a:ext cx="1567737" cy="5027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Stack Bowls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369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6DFD7-4252-EF42-0E8B-55D207AB5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C9EC2724-5556-9837-9602-CB5A6A6AEB69}"/>
              </a:ext>
            </a:extLst>
          </p:cNvPr>
          <p:cNvSpPr/>
          <p:nvPr/>
        </p:nvSpPr>
        <p:spPr>
          <a:xfrm>
            <a:off x="1743477" y="3225686"/>
            <a:ext cx="1022735" cy="391389"/>
          </a:xfrm>
          <a:prstGeom prst="roundRect">
            <a:avLst/>
          </a:prstGeom>
          <a:solidFill>
            <a:schemeClr val="accent6">
              <a:lumMod val="60000"/>
              <a:lumOff val="40000"/>
              <a:alpha val="3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Rounded Rectangle 25">
            <a:extLst>
              <a:ext uri="{FF2B5EF4-FFF2-40B4-BE49-F238E27FC236}">
                <a16:creationId xmlns:a16="http://schemas.microsoft.com/office/drawing/2014/main" id="{617ABC3B-B59B-23D7-580E-BC994A6D0C74}"/>
              </a:ext>
            </a:extLst>
          </p:cNvPr>
          <p:cNvSpPr/>
          <p:nvPr/>
        </p:nvSpPr>
        <p:spPr>
          <a:xfrm>
            <a:off x="800285" y="2136906"/>
            <a:ext cx="4099129" cy="1005840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VLM</a:t>
            </a:r>
            <a:endParaRPr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Rounded Rectangle 56">
            <a:extLst>
              <a:ext uri="{FF2B5EF4-FFF2-40B4-BE49-F238E27FC236}">
                <a16:creationId xmlns:a16="http://schemas.microsoft.com/office/drawing/2014/main" id="{377620C2-63D2-FAB9-A969-2ACB618BC104}"/>
              </a:ext>
            </a:extLst>
          </p:cNvPr>
          <p:cNvSpPr/>
          <p:nvPr/>
        </p:nvSpPr>
        <p:spPr>
          <a:xfrm>
            <a:off x="841434" y="4563956"/>
            <a:ext cx="1828800" cy="749808"/>
          </a:xfrm>
          <a:prstGeom prst="roundRect">
            <a:avLst/>
          </a:prstGeom>
          <a:solidFill>
            <a:srgbClr val="EDF5FF"/>
          </a:solidFill>
          <a:ln w="19050">
            <a:solidFill>
              <a:srgbClr val="9BB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Head</a:t>
            </a:r>
          </a:p>
        </p:txBody>
      </p:sp>
      <p:grpSp>
        <p:nvGrpSpPr>
          <p:cNvPr id="155" name="组合 154">
            <a:extLst>
              <a:ext uri="{FF2B5EF4-FFF2-40B4-BE49-F238E27FC236}">
                <a16:creationId xmlns:a16="http://schemas.microsoft.com/office/drawing/2014/main" id="{123BAE6D-E8A8-FA0F-B5AB-F4FCE7F4D470}"/>
              </a:ext>
            </a:extLst>
          </p:cNvPr>
          <p:cNvGrpSpPr/>
          <p:nvPr/>
        </p:nvGrpSpPr>
        <p:grpSpPr>
          <a:xfrm rot="5400000">
            <a:off x="1401504" y="3971881"/>
            <a:ext cx="690372" cy="137160"/>
            <a:chOff x="3072384" y="1897379"/>
            <a:chExt cx="690372" cy="137160"/>
          </a:xfrm>
        </p:grpSpPr>
        <p:cxnSp>
          <p:nvCxnSpPr>
            <p:cNvPr id="153" name="Connector 64">
              <a:extLst>
                <a:ext uri="{FF2B5EF4-FFF2-40B4-BE49-F238E27FC236}">
                  <a16:creationId xmlns:a16="http://schemas.microsoft.com/office/drawing/2014/main" id="{26A0DC92-9F7A-3D86-1DAC-82C438354CC5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Isosceles Triangle 65">
              <a:extLst>
                <a:ext uri="{FF2B5EF4-FFF2-40B4-BE49-F238E27FC236}">
                  <a16:creationId xmlns:a16="http://schemas.microsoft.com/office/drawing/2014/main" id="{D1CFBD0B-19D9-4F50-7F87-0759537EA36B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0E93051-BC88-B6FD-5550-E940D984BA64}"/>
              </a:ext>
            </a:extLst>
          </p:cNvPr>
          <p:cNvGrpSpPr/>
          <p:nvPr/>
        </p:nvGrpSpPr>
        <p:grpSpPr>
          <a:xfrm rot="5400000">
            <a:off x="1370893" y="5699414"/>
            <a:ext cx="690372" cy="137160"/>
            <a:chOff x="3072384" y="1897379"/>
            <a:chExt cx="690372" cy="137160"/>
          </a:xfrm>
        </p:grpSpPr>
        <p:cxnSp>
          <p:nvCxnSpPr>
            <p:cNvPr id="21" name="Connector 64">
              <a:extLst>
                <a:ext uri="{FF2B5EF4-FFF2-40B4-BE49-F238E27FC236}">
                  <a16:creationId xmlns:a16="http://schemas.microsoft.com/office/drawing/2014/main" id="{CC0D1A21-6534-460D-E57C-C71C7086DC05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Isosceles Triangle 65">
              <a:extLst>
                <a:ext uri="{FF2B5EF4-FFF2-40B4-BE49-F238E27FC236}">
                  <a16:creationId xmlns:a16="http://schemas.microsoft.com/office/drawing/2014/main" id="{B5E2B702-F7A2-445A-2488-9EFB2CAB1237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DC3F8EA-5676-86E6-2D7A-9777CDA32886}"/>
              </a:ext>
            </a:extLst>
          </p:cNvPr>
          <p:cNvGrpSpPr/>
          <p:nvPr/>
        </p:nvGrpSpPr>
        <p:grpSpPr>
          <a:xfrm rot="5400000">
            <a:off x="3758720" y="5699414"/>
            <a:ext cx="690372" cy="137160"/>
            <a:chOff x="3072384" y="1897379"/>
            <a:chExt cx="690372" cy="137160"/>
          </a:xfrm>
        </p:grpSpPr>
        <p:cxnSp>
          <p:nvCxnSpPr>
            <p:cNvPr id="24" name="Connector 64">
              <a:extLst>
                <a:ext uri="{FF2B5EF4-FFF2-40B4-BE49-F238E27FC236}">
                  <a16:creationId xmlns:a16="http://schemas.microsoft.com/office/drawing/2014/main" id="{299724C6-10A2-425D-A198-8C1526386615}"/>
                </a:ext>
              </a:extLst>
            </p:cNvPr>
            <p:cNvCxnSpPr/>
            <p:nvPr/>
          </p:nvCxnSpPr>
          <p:spPr>
            <a:xfrm>
              <a:off x="3072384" y="1965960"/>
              <a:ext cx="621792" cy="0"/>
            </a:xfrm>
            <a:prstGeom prst="line">
              <a:avLst/>
            </a:prstGeom>
            <a:ln w="18415">
              <a:solidFill>
                <a:srgbClr val="25324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sosceles Triangle 65">
              <a:extLst>
                <a:ext uri="{FF2B5EF4-FFF2-40B4-BE49-F238E27FC236}">
                  <a16:creationId xmlns:a16="http://schemas.microsoft.com/office/drawing/2014/main" id="{03FE9F7E-3A87-67B2-7E0F-ADD662C9C168}"/>
                </a:ext>
              </a:extLst>
            </p:cNvPr>
            <p:cNvSpPr/>
            <p:nvPr/>
          </p:nvSpPr>
          <p:spPr>
            <a:xfrm rot="5400000">
              <a:off x="3625596" y="1897379"/>
              <a:ext cx="137160" cy="137160"/>
            </a:xfrm>
            <a:prstGeom prst="triangle">
              <a:avLst/>
            </a:prstGeom>
            <a:solidFill>
              <a:srgbClr val="25324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Rounded Rectangle 56">
            <a:extLst>
              <a:ext uri="{FF2B5EF4-FFF2-40B4-BE49-F238E27FC236}">
                <a16:creationId xmlns:a16="http://schemas.microsoft.com/office/drawing/2014/main" id="{E46BC91D-1103-DE57-8476-FEB72E04C17F}"/>
              </a:ext>
            </a:extLst>
          </p:cNvPr>
          <p:cNvSpPr/>
          <p:nvPr/>
        </p:nvSpPr>
        <p:spPr>
          <a:xfrm>
            <a:off x="3189506" y="4558484"/>
            <a:ext cx="1828800" cy="749808"/>
          </a:xfrm>
          <a:prstGeom prst="roundRect">
            <a:avLst/>
          </a:prstGeom>
          <a:solidFill>
            <a:srgbClr val="FDE9D8"/>
          </a:solidFill>
          <a:ln w="1778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A552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Guiding Head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A4A7B1-11EA-72F6-985F-5FC61A8F5C97}"/>
              </a:ext>
            </a:extLst>
          </p:cNvPr>
          <p:cNvSpPr txBox="1"/>
          <p:nvPr/>
        </p:nvSpPr>
        <p:spPr>
          <a:xfrm>
            <a:off x="930817" y="6228480"/>
            <a:ext cx="1567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dirty="0"/>
              <a:t>ction Loss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7F632FAE-1F11-C5BF-4EB8-8DD16902069C}"/>
              </a:ext>
            </a:extLst>
          </p:cNvPr>
          <p:cNvSpPr txBox="1"/>
          <p:nvPr/>
        </p:nvSpPr>
        <p:spPr>
          <a:xfrm>
            <a:off x="3074420" y="6228480"/>
            <a:ext cx="21961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Reconstruction Loss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D3D86B53-8EDB-368F-FA0A-C8363D3AF0F0}"/>
              </a:ext>
            </a:extLst>
          </p:cNvPr>
          <p:cNvSpPr/>
          <p:nvPr/>
        </p:nvSpPr>
        <p:spPr>
          <a:xfrm>
            <a:off x="845852" y="3309010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5D38822F-4A98-EC56-D59E-A0D7214169AA}"/>
              </a:ext>
            </a:extLst>
          </p:cNvPr>
          <p:cNvSpPr/>
          <p:nvPr/>
        </p:nvSpPr>
        <p:spPr>
          <a:xfrm>
            <a:off x="1103150" y="3309009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0E969231-2754-D357-81AE-05134DAA2099}"/>
              </a:ext>
            </a:extLst>
          </p:cNvPr>
          <p:cNvSpPr/>
          <p:nvPr/>
        </p:nvSpPr>
        <p:spPr>
          <a:xfrm>
            <a:off x="1356897" y="3309009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D04AAD59-A05C-18DF-8E25-A61616F8A3F3}"/>
              </a:ext>
            </a:extLst>
          </p:cNvPr>
          <p:cNvSpPr/>
          <p:nvPr/>
        </p:nvSpPr>
        <p:spPr>
          <a:xfrm>
            <a:off x="1864391" y="3307647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2E3EA488-593C-2F90-A728-779D9FD4B789}"/>
              </a:ext>
            </a:extLst>
          </p:cNvPr>
          <p:cNvSpPr/>
          <p:nvPr/>
        </p:nvSpPr>
        <p:spPr>
          <a:xfrm>
            <a:off x="2121689" y="3307646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62DC06D7-4466-6386-A437-810A2D1A4588}"/>
              </a:ext>
            </a:extLst>
          </p:cNvPr>
          <p:cNvSpPr/>
          <p:nvPr/>
        </p:nvSpPr>
        <p:spPr>
          <a:xfrm>
            <a:off x="2375436" y="3307646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D7DAAAE7-655F-EB1F-149B-0BE469A684D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366939" y="3647565"/>
            <a:ext cx="975671" cy="498262"/>
          </a:xfrm>
          <a:prstGeom prst="bentConnector3">
            <a:avLst>
              <a:gd name="adj1" fmla="val -1122"/>
            </a:avLst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FCEE224-E8A9-055E-34C2-8A26CABB2C68}"/>
              </a:ext>
            </a:extLst>
          </p:cNvPr>
          <p:cNvSpPr/>
          <p:nvPr/>
        </p:nvSpPr>
        <p:spPr>
          <a:xfrm>
            <a:off x="2912283" y="3302891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F0393979-DB09-3BF7-DF11-514E88699775}"/>
              </a:ext>
            </a:extLst>
          </p:cNvPr>
          <p:cNvSpPr/>
          <p:nvPr/>
        </p:nvSpPr>
        <p:spPr>
          <a:xfrm>
            <a:off x="3169581" y="3302890"/>
            <a:ext cx="209321" cy="20932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5193850-089E-2A34-ABBB-1995BE4D2B72}"/>
              </a:ext>
            </a:extLst>
          </p:cNvPr>
          <p:cNvSpPr txBox="1"/>
          <p:nvPr/>
        </p:nvSpPr>
        <p:spPr>
          <a:xfrm>
            <a:off x="2849849" y="1649671"/>
            <a:ext cx="1567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Task Prompt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F6501AC2-D2C1-EFC4-604D-EA534B70884D}"/>
              </a:ext>
            </a:extLst>
          </p:cNvPr>
          <p:cNvSpPr/>
          <p:nvPr/>
        </p:nvSpPr>
        <p:spPr>
          <a:xfrm>
            <a:off x="959728" y="470228"/>
            <a:ext cx="1179443" cy="1179443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F2D77D2-7950-54A9-998E-7464FCB55CED}"/>
              </a:ext>
            </a:extLst>
          </p:cNvPr>
          <p:cNvSpPr txBox="1"/>
          <p:nvPr/>
        </p:nvSpPr>
        <p:spPr>
          <a:xfrm>
            <a:off x="807698" y="1667466"/>
            <a:ext cx="1567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C0FBBD91-006B-4213-324D-1F5700BD4765}"/>
              </a:ext>
            </a:extLst>
          </p:cNvPr>
          <p:cNvSpPr/>
          <p:nvPr/>
        </p:nvSpPr>
        <p:spPr>
          <a:xfrm>
            <a:off x="2849849" y="1059949"/>
            <a:ext cx="1567737" cy="50274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Stack Bowls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Rounded Rectangle 56">
            <a:extLst>
              <a:ext uri="{FF2B5EF4-FFF2-40B4-BE49-F238E27FC236}">
                <a16:creationId xmlns:a16="http://schemas.microsoft.com/office/drawing/2014/main" id="{3DDF3476-E1C9-E07B-3EDC-CA53FFCD2555}"/>
              </a:ext>
            </a:extLst>
          </p:cNvPr>
          <p:cNvSpPr/>
          <p:nvPr/>
        </p:nvSpPr>
        <p:spPr>
          <a:xfrm>
            <a:off x="6200947" y="3695275"/>
            <a:ext cx="1828800" cy="749808"/>
          </a:xfrm>
          <a:prstGeom prst="roundRect">
            <a:avLst/>
          </a:prstGeom>
          <a:solidFill>
            <a:srgbClr val="FDE9D8"/>
          </a:solidFill>
          <a:ln w="1778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A552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Guiding Head</a:t>
            </a:r>
          </a:p>
        </p:txBody>
      </p:sp>
      <p:sp>
        <p:nvSpPr>
          <p:cNvPr id="10" name="Rounded Rectangle 56">
            <a:extLst>
              <a:ext uri="{FF2B5EF4-FFF2-40B4-BE49-F238E27FC236}">
                <a16:creationId xmlns:a16="http://schemas.microsoft.com/office/drawing/2014/main" id="{BAE2ECF9-355A-8C55-7680-7A36D28A0477}"/>
              </a:ext>
            </a:extLst>
          </p:cNvPr>
          <p:cNvSpPr/>
          <p:nvPr/>
        </p:nvSpPr>
        <p:spPr>
          <a:xfrm>
            <a:off x="6200947" y="4933388"/>
            <a:ext cx="1828800" cy="749808"/>
          </a:xfrm>
          <a:prstGeom prst="roundRect">
            <a:avLst/>
          </a:prstGeom>
          <a:solidFill>
            <a:srgbClr val="FFC000"/>
          </a:solidFill>
          <a:ln w="1778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A552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</a:p>
        </p:txBody>
      </p:sp>
      <p:sp>
        <p:nvSpPr>
          <p:cNvPr id="11" name="Rounded Rectangle 56">
            <a:extLst>
              <a:ext uri="{FF2B5EF4-FFF2-40B4-BE49-F238E27FC236}">
                <a16:creationId xmlns:a16="http://schemas.microsoft.com/office/drawing/2014/main" id="{293DDF4F-4F17-4689-B7C4-8BD7BB8BFE90}"/>
              </a:ext>
            </a:extLst>
          </p:cNvPr>
          <p:cNvSpPr/>
          <p:nvPr/>
        </p:nvSpPr>
        <p:spPr>
          <a:xfrm>
            <a:off x="6200947" y="685045"/>
            <a:ext cx="1828800" cy="749808"/>
          </a:xfrm>
          <a:prstGeom prst="roundRect">
            <a:avLst/>
          </a:prstGeom>
          <a:solidFill>
            <a:srgbClr val="FDE9D8"/>
          </a:solidFill>
          <a:ln w="17780">
            <a:solidFill>
              <a:srgbClr val="E6A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A552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Guiding Head</a:t>
            </a:r>
          </a:p>
        </p:txBody>
      </p:sp>
      <p:sp>
        <p:nvSpPr>
          <p:cNvPr id="15" name="Rounded Rectangle 56">
            <a:extLst>
              <a:ext uri="{FF2B5EF4-FFF2-40B4-BE49-F238E27FC236}">
                <a16:creationId xmlns:a16="http://schemas.microsoft.com/office/drawing/2014/main" id="{5C3400DE-98E4-8B7F-271E-01A310E531F0}"/>
              </a:ext>
            </a:extLst>
          </p:cNvPr>
          <p:cNvSpPr/>
          <p:nvPr/>
        </p:nvSpPr>
        <p:spPr>
          <a:xfrm>
            <a:off x="6200947" y="1923158"/>
            <a:ext cx="1828800" cy="749808"/>
          </a:xfrm>
          <a:prstGeom prst="roundRect">
            <a:avLst/>
          </a:prstGeom>
          <a:solidFill>
            <a:srgbClr val="FFC000"/>
          </a:solidFill>
          <a:ln w="1778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>
            <a:normAutofit/>
          </a:bodyPr>
          <a:lstStyle/>
          <a:p>
            <a:pPr algn="ctr"/>
            <a:r>
              <a:rPr lang="en-US" b="1" dirty="0">
                <a:solidFill>
                  <a:srgbClr val="A552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 Flow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2F9D91A-1507-97CA-1F90-98F5F251AC44}"/>
              </a:ext>
            </a:extLst>
          </p:cNvPr>
          <p:cNvCxnSpPr>
            <a:cxnSpLocks/>
          </p:cNvCxnSpPr>
          <p:nvPr/>
        </p:nvCxnSpPr>
        <p:spPr>
          <a:xfrm flipV="1">
            <a:off x="7106563" y="1488856"/>
            <a:ext cx="0" cy="345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88B36A18-E01D-F5E5-0400-4699AE4546D5}"/>
              </a:ext>
            </a:extLst>
          </p:cNvPr>
          <p:cNvCxnSpPr>
            <a:cxnSpLocks/>
          </p:cNvCxnSpPr>
          <p:nvPr/>
        </p:nvCxnSpPr>
        <p:spPr>
          <a:xfrm flipV="1">
            <a:off x="7106563" y="4494511"/>
            <a:ext cx="0" cy="3454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001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6E90D31-F82F-ED87-7E2B-C99C28519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10" y="2223218"/>
            <a:ext cx="2143613" cy="12057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5E38730-EE1E-C824-C346-42AA377C9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387" y="2223218"/>
            <a:ext cx="2143613" cy="120578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A632D7F-F832-E1AE-50D1-EB4A61621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264" y="2223218"/>
            <a:ext cx="2143613" cy="120578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CABF0E0-AF87-609F-D2DD-20FB88E13E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0042" y="2223218"/>
            <a:ext cx="1607709" cy="120578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EF05F5F-CF08-D19F-3B47-FB1A7E04D2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9758" y="2223218"/>
            <a:ext cx="1607709" cy="12057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771555-CF8E-E436-056E-406F1632B5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9474" y="2223218"/>
            <a:ext cx="1607709" cy="120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04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A8C84-2935-8CD5-C007-F07EEEF0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F080976-5D3C-86CF-B655-67AB140A8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11" y="2223218"/>
            <a:ext cx="1813414" cy="102004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F8F1234-E812-6C75-068F-F3D2E00B9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437" y="2223217"/>
            <a:ext cx="1813414" cy="102004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31601F7-CF59-13AE-7652-30373F170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8474" y="2223217"/>
            <a:ext cx="1813414" cy="10200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4F8BBA8-B7C6-63E7-A1CD-4B282C3A61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7151" y="2223216"/>
            <a:ext cx="1360060" cy="102004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5AF8D8-1745-A88A-5ECF-E6C39EB606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861" y="2223216"/>
            <a:ext cx="1360060" cy="102004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047C7D-B3A2-18F1-2427-29A02097FF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7506" y="2223216"/>
            <a:ext cx="1360060" cy="102004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17858C06-F2DE-5FAF-54D4-2637A23AE225}"/>
              </a:ext>
            </a:extLst>
          </p:cNvPr>
          <p:cNvSpPr txBox="1"/>
          <p:nvPr/>
        </p:nvSpPr>
        <p:spPr>
          <a:xfrm>
            <a:off x="105510" y="3615920"/>
            <a:ext cx="5990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dirty="0">
                <a:solidFill>
                  <a:schemeClr val="tx2">
                    <a:lumMod val="75000"/>
                  </a:schemeClr>
                </a:solidFill>
              </a:rPr>
              <a:t>Proprioceptive Guidance Prompt: </a:t>
            </a:r>
            <a:r>
              <a:rPr kumimoji="1" lang="en-US" altLang="zh-CN" dirty="0"/>
              <a:t>Where is the </a:t>
            </a:r>
            <a:r>
              <a:rPr kumimoji="1" lang="en-US" altLang="zh-CN" dirty="0">
                <a:solidFill>
                  <a:srgbClr val="C00000"/>
                </a:solidFill>
              </a:rPr>
              <a:t>robot itself</a:t>
            </a:r>
            <a:r>
              <a:rPr kumimoji="1" lang="en-US" altLang="zh-CN" dirty="0"/>
              <a:t>?</a:t>
            </a:r>
            <a:endParaRPr kumimoji="1" lang="en-US" altLang="zh-CN" i="1" dirty="0"/>
          </a:p>
          <a:p>
            <a:pPr>
              <a:lnSpc>
                <a:spcPct val="150000"/>
              </a:lnSpc>
            </a:pPr>
            <a:r>
              <a:rPr kumimoji="1" lang="en-US" altLang="zh-CN" i="1" dirty="0"/>
              <a:t>Real-world Task: Stack Bowls. </a:t>
            </a:r>
          </a:p>
          <a:p>
            <a:r>
              <a:rPr kumimoji="1" lang="en-US" altLang="zh-CN" dirty="0">
                <a:solidFill>
                  <a:schemeClr val="tx2">
                    <a:lumMod val="75000"/>
                  </a:schemeClr>
                </a:solidFill>
              </a:rPr>
              <a:t>Task Prompt: </a:t>
            </a:r>
            <a:r>
              <a:rPr kumimoji="1" lang="en" altLang="zh-CN" dirty="0"/>
              <a:t>Stack the three bowls on the table together.</a:t>
            </a:r>
            <a:endParaRPr kumimoji="1"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3DCDF7-1ADD-468F-F9DE-B2326F36B6E9}"/>
              </a:ext>
            </a:extLst>
          </p:cNvPr>
          <p:cNvSpPr txBox="1"/>
          <p:nvPr/>
        </p:nvSpPr>
        <p:spPr>
          <a:xfrm>
            <a:off x="420325" y="3277433"/>
            <a:ext cx="128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RGB Input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831BC4-B96A-E8FF-093C-AC77D31F422A}"/>
              </a:ext>
            </a:extLst>
          </p:cNvPr>
          <p:cNvSpPr txBox="1"/>
          <p:nvPr/>
        </p:nvSpPr>
        <p:spPr>
          <a:xfrm>
            <a:off x="2193329" y="3277433"/>
            <a:ext cx="1666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Task Prompt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B6BF92-C991-0570-AF3F-0062B8BA5183}"/>
              </a:ext>
            </a:extLst>
          </p:cNvPr>
          <p:cNvSpPr txBox="1"/>
          <p:nvPr/>
        </p:nvSpPr>
        <p:spPr>
          <a:xfrm>
            <a:off x="3971437" y="3285331"/>
            <a:ext cx="21730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Guidance Prompt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CC1A28-F2D4-4646-9C09-E495664649ED}"/>
              </a:ext>
            </a:extLst>
          </p:cNvPr>
          <p:cNvSpPr txBox="1"/>
          <p:nvPr/>
        </p:nvSpPr>
        <p:spPr>
          <a:xfrm>
            <a:off x="6558133" y="3338035"/>
            <a:ext cx="12814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RGB Input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ABC035E-50C7-BC73-597D-44ECEA6C5870}"/>
              </a:ext>
            </a:extLst>
          </p:cNvPr>
          <p:cNvSpPr txBox="1"/>
          <p:nvPr/>
        </p:nvSpPr>
        <p:spPr>
          <a:xfrm>
            <a:off x="7868814" y="3338035"/>
            <a:ext cx="1666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Task Prompt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CEC39B-6EC0-4CA3-9FC1-FEAD47BF3EC8}"/>
              </a:ext>
            </a:extLst>
          </p:cNvPr>
          <p:cNvSpPr txBox="1"/>
          <p:nvPr/>
        </p:nvSpPr>
        <p:spPr>
          <a:xfrm>
            <a:off x="9192515" y="3338035"/>
            <a:ext cx="22178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/>
              <a:t>Guidance Prompt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EF2F669-2325-56B3-3087-3C08946DA45D}"/>
              </a:ext>
            </a:extLst>
          </p:cNvPr>
          <p:cNvSpPr txBox="1"/>
          <p:nvPr/>
        </p:nvSpPr>
        <p:spPr>
          <a:xfrm>
            <a:off x="6407151" y="4150499"/>
            <a:ext cx="5169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i="1" dirty="0"/>
              <a:t>Simulation Task: Put eggplant. </a:t>
            </a:r>
          </a:p>
          <a:p>
            <a:r>
              <a:rPr kumimoji="1" lang="en-US" altLang="zh-CN" dirty="0">
                <a:solidFill>
                  <a:schemeClr val="tx2">
                    <a:lumMod val="75000"/>
                  </a:schemeClr>
                </a:solidFill>
              </a:rPr>
              <a:t>Task Prompt: </a:t>
            </a:r>
            <a:r>
              <a:rPr kumimoji="1" lang="en" altLang="zh-CN" dirty="0"/>
              <a:t>Put the eggplant into the basket.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4070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261</Words>
  <Application>Microsoft Macintosh PowerPoint</Application>
  <PresentationFormat>宽屏</PresentationFormat>
  <Paragraphs>104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康烨 季</cp:lastModifiedBy>
  <cp:revision>21</cp:revision>
  <dcterms:created xsi:type="dcterms:W3CDTF">2013-01-27T09:14:16Z</dcterms:created>
  <dcterms:modified xsi:type="dcterms:W3CDTF">2026-05-02T17:44:26Z</dcterms:modified>
  <cp:category/>
</cp:coreProperties>
</file>